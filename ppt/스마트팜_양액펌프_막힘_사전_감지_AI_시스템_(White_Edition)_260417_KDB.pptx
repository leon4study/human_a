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541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4.jpe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4.jpe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4.jpe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375897"/>
            <a:ext cx="477202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kern="0" spc="-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스마트팜 양액펌프 막힘</a:t>
            </a:r>
            <a:r>
              <a:rPr lang="en-US" sz="3294" b="1" kern="0" spc="-2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3294" b="1" kern="0" spc="-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사전 감지 AI 시스템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714375" y="2553165"/>
            <a:ext cx="477202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PREDICTIVE MAINTENANCE</a:t>
            </a:r>
            <a:endParaRPr lang="en-US" sz="119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630085"/>
            <a:ext cx="112514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2614" y="3621156"/>
            <a:ext cx="71501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2026. 04. 16</a:t>
            </a:r>
            <a:endParaRPr lang="en-US" sz="94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381" y="3630085"/>
            <a:ext cx="160734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9840" y="3621156"/>
            <a:ext cx="11552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Smart-Flow AI Team</a:t>
            </a:r>
            <a:endParaRPr lang="en-US" sz="942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262533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4375" y="1048345"/>
            <a:ext cx="2457450" cy="15716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1048345"/>
            <a:ext cx="2457450" cy="285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892969" y="1262658"/>
            <a:ext cx="19928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1489472"/>
            <a:ext cx="17859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7288" y="1464469"/>
            <a:ext cx="1038746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개요 및 팀 소개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343275" y="1048345"/>
            <a:ext cx="2457450" cy="15716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6"/>
          <p:cNvSpPr/>
          <p:nvPr/>
        </p:nvSpPr>
        <p:spPr>
          <a:xfrm>
            <a:off x="3343275" y="1048345"/>
            <a:ext cx="2457450" cy="2857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7"/>
          <p:cNvSpPr/>
          <p:nvPr/>
        </p:nvSpPr>
        <p:spPr>
          <a:xfrm>
            <a:off x="3521869" y="1262658"/>
            <a:ext cx="19928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1869" y="1489472"/>
            <a:ext cx="142875" cy="1428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50469" y="1464469"/>
            <a:ext cx="961802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배경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972175" y="1048345"/>
            <a:ext cx="2457450" cy="15716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0"/>
          <p:cNvSpPr/>
          <p:nvPr/>
        </p:nvSpPr>
        <p:spPr>
          <a:xfrm>
            <a:off x="5972175" y="1048345"/>
            <a:ext cx="2457450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1"/>
          <p:cNvSpPr/>
          <p:nvPr/>
        </p:nvSpPr>
        <p:spPr>
          <a:xfrm>
            <a:off x="6150769" y="1262658"/>
            <a:ext cx="19928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0769" y="1489472"/>
            <a:ext cx="142875" cy="1428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79369" y="1464469"/>
            <a:ext cx="1346522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분석 및 학습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14375" y="2791420"/>
            <a:ext cx="2457450" cy="15716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4"/>
          <p:cNvSpPr/>
          <p:nvPr/>
        </p:nvSpPr>
        <p:spPr>
          <a:xfrm>
            <a:off x="714375" y="2791420"/>
            <a:ext cx="2457450" cy="28575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5"/>
          <p:cNvSpPr/>
          <p:nvPr/>
        </p:nvSpPr>
        <p:spPr>
          <a:xfrm>
            <a:off x="892969" y="3005733"/>
            <a:ext cx="19928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EA58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969" y="3232547"/>
            <a:ext cx="142875" cy="1428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21569" y="3207544"/>
            <a:ext cx="1154162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서비스 및 결과물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343275" y="2791420"/>
            <a:ext cx="2457450" cy="15716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18"/>
          <p:cNvSpPr/>
          <p:nvPr/>
        </p:nvSpPr>
        <p:spPr>
          <a:xfrm>
            <a:off x="3343275" y="2791420"/>
            <a:ext cx="2457450" cy="2857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19"/>
          <p:cNvSpPr/>
          <p:nvPr/>
        </p:nvSpPr>
        <p:spPr>
          <a:xfrm>
            <a:off x="3521869" y="3005733"/>
            <a:ext cx="19928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1869" y="3232547"/>
            <a:ext cx="160734" cy="1428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768328" y="3207544"/>
            <a:ext cx="961802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최종 아키텍처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5972175" y="2791420"/>
            <a:ext cx="2457450" cy="15716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22"/>
          <p:cNvSpPr/>
          <p:nvPr/>
        </p:nvSpPr>
        <p:spPr>
          <a:xfrm>
            <a:off x="5972175" y="2791420"/>
            <a:ext cx="2457450" cy="28575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31" name="Text 23"/>
          <p:cNvSpPr/>
          <p:nvPr/>
        </p:nvSpPr>
        <p:spPr>
          <a:xfrm>
            <a:off x="6150769" y="3005733"/>
            <a:ext cx="199285" cy="1154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DB2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0769" y="3232547"/>
            <a:ext cx="160734" cy="142875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397228" y="3207544"/>
            <a:ext cx="846386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결론 및 회고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1"/>
          <p:cNvSpPr/>
          <p:nvPr/>
        </p:nvSpPr>
        <p:spPr>
          <a:xfrm>
            <a:off x="987707" y="2077938"/>
            <a:ext cx="882086" cy="9876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100"/>
              </a:lnSpc>
              <a:buNone/>
            </a:pPr>
            <a:r>
              <a:rPr lang="en-US" sz="6218" b="1" kern="0" spc="-4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218" dirty="0"/>
          </a:p>
        </p:txBody>
      </p:sp>
      <p:sp>
        <p:nvSpPr>
          <p:cNvPr id="5" name="Text 2"/>
          <p:cNvSpPr/>
          <p:nvPr/>
        </p:nvSpPr>
        <p:spPr>
          <a:xfrm>
            <a:off x="3429000" y="1764869"/>
            <a:ext cx="302264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3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3429000" y="2075622"/>
            <a:ext cx="3022643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개요 및
팀 소개</a:t>
            </a:r>
            <a:endParaRPr lang="en-US" sz="2862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개요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4375" y="1166217"/>
            <a:ext cx="2381241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1166217"/>
            <a:ext cx="2381241" cy="2857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1464469"/>
            <a:ext cx="321469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8688" y="1952030"/>
            <a:ext cx="195261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 모니터링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928688" y="2298502"/>
            <a:ext cx="195261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센서 데이터를 활용하여 양액 시스템의 운전 상태를 1초 단위로 정밀하게 관제하고 가시화합니다.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3381366" y="1166217"/>
            <a:ext cx="2381241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6"/>
          <p:cNvSpPr/>
          <p:nvPr/>
        </p:nvSpPr>
        <p:spPr>
          <a:xfrm>
            <a:off x="3381366" y="1166217"/>
            <a:ext cx="2381241" cy="2857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678" y="1464469"/>
            <a:ext cx="285750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95678" y="1952030"/>
            <a:ext cx="195261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예지보전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3595678" y="2298502"/>
            <a:ext cx="1952616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Autoencoder 기반 이상 탐지 알고리즘을 통해 펌프 막힘의 전조 증상을 사전에 포착하여 사고를 방지합니다.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6048356" y="1166217"/>
            <a:ext cx="2381269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0"/>
          <p:cNvSpPr/>
          <p:nvPr/>
        </p:nvSpPr>
        <p:spPr>
          <a:xfrm>
            <a:off x="6048356" y="1166217"/>
            <a:ext cx="2381269" cy="28575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464469"/>
            <a:ext cx="285750" cy="285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62669" y="1952030"/>
            <a:ext cx="1952644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운영 최적화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6262669" y="2298502"/>
            <a:ext cx="195264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기반의 정비 주기를 수립하여 불필요한 점검 비용을 절감하고 시스템 가동률을 극대화합니다.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0" y="4429125"/>
            <a:ext cx="9144000" cy="7143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4"/>
          <p:cNvSpPr/>
          <p:nvPr/>
        </p:nvSpPr>
        <p:spPr>
          <a:xfrm>
            <a:off x="0" y="4429125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5"/>
          <p:cNvSpPr/>
          <p:nvPr/>
        </p:nvSpPr>
        <p:spPr>
          <a:xfrm>
            <a:off x="0" y="4643438"/>
            <a:ext cx="9144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"본 프로젝트는 Zero-Downtime 스마트팜 구현을 위한 지능형 유지보수 솔루션을 지향합니다."</a:t>
            </a:r>
            <a:endParaRPr lang="en-US" sz="987" dirty="0"/>
          </a:p>
        </p:txBody>
      </p:sp>
      <p:sp>
        <p:nvSpPr>
          <p:cNvPr id="22" name="직사각형 21"/>
          <p:cNvSpPr/>
          <p:nvPr/>
        </p:nvSpPr>
        <p:spPr>
          <a:xfrm>
            <a:off x="718457" y="449035"/>
            <a:ext cx="45719" cy="236765"/>
          </a:xfrm>
          <a:prstGeom prst="rect">
            <a:avLst/>
          </a:prstGeom>
          <a:solidFill>
            <a:srgbClr val="2563EB"/>
          </a:solidFill>
          <a:ln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연구 팀 및 R&amp;R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4375" y="951905"/>
            <a:ext cx="7715250" cy="50006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951905"/>
            <a:ext cx="28575" cy="500063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928688" y="1114866"/>
            <a:ext cx="1950599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Team: Smart-Flow AI (SFAI)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14375" y="1666280"/>
            <a:ext cx="7715250" cy="2750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714375" y="1666280"/>
            <a:ext cx="1157288" cy="425053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2084189"/>
            <a:ext cx="1157288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7"/>
          <p:cNvSpPr/>
          <p:nvPr/>
        </p:nvSpPr>
        <p:spPr>
          <a:xfrm>
            <a:off x="714375" y="1649385"/>
            <a:ext cx="1157288" cy="45884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kern="0" spc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성명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871663" y="1666280"/>
            <a:ext cx="1543050" cy="425053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2" name="Shape 9"/>
          <p:cNvSpPr/>
          <p:nvPr/>
        </p:nvSpPr>
        <p:spPr>
          <a:xfrm>
            <a:off x="1871663" y="2084189"/>
            <a:ext cx="154305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1871663" y="1649385"/>
            <a:ext cx="1543050" cy="45884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kern="0" spc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역할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14713" y="1666280"/>
            <a:ext cx="5014913" cy="425053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Shape 12"/>
          <p:cNvSpPr/>
          <p:nvPr/>
        </p:nvSpPr>
        <p:spPr>
          <a:xfrm>
            <a:off x="3414713" y="2084189"/>
            <a:ext cx="5014913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3"/>
          <p:cNvSpPr/>
          <p:nvPr/>
        </p:nvSpPr>
        <p:spPr>
          <a:xfrm>
            <a:off x="3414713" y="1649385"/>
            <a:ext cx="5014913" cy="45884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kern="0" spc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주요 R&amp;R (ROLE &amp; RESPONSIBILITIES)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14375" y="2069489"/>
            <a:ext cx="1157288" cy="49731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김현준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871663" y="2005369"/>
            <a:ext cx="1543050" cy="6255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>
              <a:lnSpc>
                <a:spcPts val="1100"/>
              </a:lnSpc>
            </a:pPr>
            <a:r>
              <a:rPr lang="en-US" sz="9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</a:t>
            </a:r>
            <a:r>
              <a:rPr lang="en-US" sz="900" b="1" dirty="0" smtClean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Leader/</a:t>
            </a:r>
          </a:p>
          <a:p>
            <a:pPr>
              <a:lnSpc>
                <a:spcPts val="1100"/>
              </a:lnSpc>
            </a:pPr>
            <a:r>
              <a:rPr lang="en-US" altLang="ko-KR" sz="900" b="1" dirty="0" smtClean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Scientist</a:t>
            </a:r>
          </a:p>
        </p:txBody>
      </p:sp>
      <p:sp>
        <p:nvSpPr>
          <p:cNvPr id="19" name="Text 16"/>
          <p:cNvSpPr/>
          <p:nvPr/>
        </p:nvSpPr>
        <p:spPr>
          <a:xfrm>
            <a:off x="3414713" y="2063077"/>
            <a:ext cx="5014913" cy="51014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총괄 관리, 비즈니스 로직 설계 및 성과 지표 수립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14375" y="2532047"/>
            <a:ext cx="1157288" cy="49731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김다빈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871663" y="2538459"/>
            <a:ext cx="1543050" cy="48449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Scientist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414713" y="2525635"/>
            <a:ext cx="5014913" cy="51014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Autoencoder 모델 아키텍처 설계, 학습 최적화 및 XAI 분석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14375" y="2996391"/>
            <a:ext cx="1157288" cy="49731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김천의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871663" y="3002803"/>
            <a:ext cx="1543050" cy="48449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>
              <a:lnSpc>
                <a:spcPts val="1100"/>
              </a:lnSpc>
            </a:pPr>
            <a:r>
              <a:rPr lang="en-US" altLang="ko-KR" sz="9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Scientist</a:t>
            </a:r>
            <a:endParaRPr lang="en-US" altLang="ko-KR" sz="900" dirty="0"/>
          </a:p>
        </p:txBody>
      </p:sp>
      <p:sp>
        <p:nvSpPr>
          <p:cNvPr id="25" name="Text 22"/>
          <p:cNvSpPr/>
          <p:nvPr/>
        </p:nvSpPr>
        <p:spPr>
          <a:xfrm>
            <a:off x="3414713" y="2989979"/>
            <a:ext cx="5014913" cy="51014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센서 데이터 파이프라인 구축, 실시간 전처리 및 DB 연동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14375" y="3460734"/>
            <a:ext cx="1157288" cy="49731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오윤석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871663" y="3467146"/>
            <a:ext cx="1543050" cy="48449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 smtClean="0">
                <a:solidFill>
                  <a:srgbClr val="059669"/>
                </a:solidFill>
                <a:latin typeface="Inter" pitchFamily="34" charset="0"/>
                <a:ea typeface="Inter" pitchFamily="34" charset="-122"/>
              </a:rPr>
              <a:t>System Engineer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414713" y="3454322"/>
            <a:ext cx="5014913" cy="51014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스마트팜 설비 메커니즘 분석, 센서 신뢰성 검증 및 도메인 지식 반영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14375" y="3925078"/>
            <a:ext cx="1157288" cy="49731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한승보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871663" y="3931490"/>
            <a:ext cx="1543050" cy="48449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UI/UX Designer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414713" y="3918666"/>
            <a:ext cx="5014913" cy="51014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운영자 중심 모니터링 대시보드 설계, 시각화 및 서비스 아키텍처 구현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577865" y="4623792"/>
            <a:ext cx="3988272" cy="1410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"5인의 전문가가 협력하여 </a:t>
            </a:r>
            <a:r>
              <a:rPr lang="en-US" sz="9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기술적 완성도와 현장 적용성</a:t>
            </a: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확보했습니다."</a:t>
            </a:r>
            <a:endParaRPr lang="en-US" sz="1000" dirty="0"/>
          </a:p>
        </p:txBody>
      </p:sp>
      <p:sp>
        <p:nvSpPr>
          <p:cNvPr id="33" name="직사각형 32"/>
          <p:cNvSpPr/>
          <p:nvPr/>
        </p:nvSpPr>
        <p:spPr>
          <a:xfrm>
            <a:off x="718457" y="449035"/>
            <a:ext cx="45719" cy="236765"/>
          </a:xfrm>
          <a:prstGeom prst="rect">
            <a:avLst/>
          </a:prstGeom>
          <a:solidFill>
            <a:srgbClr val="2563EB"/>
          </a:solidFill>
          <a:ln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수행 일정 (WBS)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714375" y="1415151"/>
            <a:ext cx="1785938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/ DATE (APR 2026)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2500313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870895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241477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12059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982641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353223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723805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94387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464969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835551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206133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576715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947297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317879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688461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059043" y="1415151"/>
            <a:ext cx="370582" cy="1885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14375" y="1808950"/>
            <a:ext cx="1370760" cy="128240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01. 기획 및 데이터 수집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500313" y="1774125"/>
            <a:ext cx="1111746" cy="1714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0"/>
          <p:cNvSpPr/>
          <p:nvPr/>
        </p:nvSpPr>
        <p:spPr>
          <a:xfrm>
            <a:off x="2500313" y="1822255"/>
            <a:ext cx="1111746" cy="8976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14375" y="2237575"/>
            <a:ext cx="1499000" cy="128240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02. 데이터 전처리 및 EDA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12059" y="2202750"/>
            <a:ext cx="1482328" cy="1714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3"/>
          <p:cNvSpPr/>
          <p:nvPr/>
        </p:nvSpPr>
        <p:spPr>
          <a:xfrm>
            <a:off x="3612059" y="2250880"/>
            <a:ext cx="1482328" cy="8976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14375" y="2666200"/>
            <a:ext cx="1518236" cy="128240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03. AI 모델링 및 성능 검증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913686" y="2381343"/>
            <a:ext cx="299340" cy="803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5094387" y="2631375"/>
            <a:ext cx="1482328" cy="1714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29"/>
          <p:cNvSpPr/>
          <p:nvPr/>
        </p:nvSpPr>
        <p:spPr>
          <a:xfrm>
            <a:off x="5094387" y="2679505"/>
            <a:ext cx="1482328" cy="8976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MODELING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14375" y="3094825"/>
            <a:ext cx="1521442" cy="128240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04. 시스템 통합 및 UI 구현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576715" y="3060000"/>
            <a:ext cx="1111746" cy="171450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6576715" y="3108130"/>
            <a:ext cx="1111746" cy="8976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b="1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714375" y="3523450"/>
            <a:ext cx="1630446" cy="128240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05. 실증 테스트 및 최종 보고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688461" y="3488625"/>
            <a:ext cx="741164" cy="171450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7688461" y="3536755"/>
            <a:ext cx="741164" cy="8976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700" b="1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REPORT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6434119" y="4099415"/>
            <a:ext cx="205184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기획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891319" y="4099415"/>
            <a:ext cx="307777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434244" y="4099415"/>
            <a:ext cx="439223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모델링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086725" y="4099415"/>
            <a:ext cx="410369" cy="102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최종보고</a:t>
            </a:r>
            <a:endParaRPr lang="en-US" sz="800" dirty="0"/>
          </a:p>
        </p:txBody>
      </p:sp>
      <p:sp>
        <p:nvSpPr>
          <p:cNvPr id="43" name="직사각형 42"/>
          <p:cNvSpPr/>
          <p:nvPr/>
        </p:nvSpPr>
        <p:spPr>
          <a:xfrm>
            <a:off x="718457" y="449035"/>
            <a:ext cx="45719" cy="236765"/>
          </a:xfrm>
          <a:prstGeom prst="rect">
            <a:avLst/>
          </a:prstGeom>
          <a:solidFill>
            <a:srgbClr val="2563EB"/>
          </a:solidFill>
          <a:ln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3553" y="2004882"/>
            <a:ext cx="2511447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93" b="1" kern="0" spc="3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3203553" y="2315635"/>
            <a:ext cx="2511447" cy="480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배경</a:t>
            </a:r>
            <a:endParaRPr lang="en-US" sz="2862" dirty="0"/>
          </a:p>
        </p:txBody>
      </p:sp>
      <p:sp>
        <p:nvSpPr>
          <p:cNvPr id="5" name="Shape 2"/>
          <p:cNvSpPr/>
          <p:nvPr/>
        </p:nvSpPr>
        <p:spPr>
          <a:xfrm>
            <a:off x="6286500" y="0"/>
            <a:ext cx="285750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3"/>
          <p:cNvSpPr/>
          <p:nvPr/>
        </p:nvSpPr>
        <p:spPr>
          <a:xfrm>
            <a:off x="7274207" y="2077938"/>
            <a:ext cx="882086" cy="9876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100"/>
              </a:lnSpc>
              <a:buNone/>
            </a:pPr>
            <a:r>
              <a:rPr lang="en-US" sz="6218" b="1" kern="0" spc="-4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21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rcRect t="28179" r="53053"/>
          <a:stretch/>
        </p:blipFill>
        <p:spPr>
          <a:xfrm>
            <a:off x="332072" y="1333099"/>
            <a:ext cx="4292867" cy="369407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60" y="1296017"/>
            <a:ext cx="142875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2872" y="1271013"/>
            <a:ext cx="1319272" cy="167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식물의 혈관 (Vascular)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88560" y="1535332"/>
            <a:ext cx="25503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작물에 영양분과 수분을 공급하는 핵심 인프라로, 공급 불균형은 즉각적인 생육 저하로 직결됩니다.</a:t>
            </a:r>
            <a:endParaRPr lang="en-US" sz="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60" y="2216109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02872" y="2191106"/>
            <a:ext cx="961802" cy="167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정밀 제어의 중추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688560" y="2455425"/>
            <a:ext cx="25503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배양액의 농도와 공급량을 1초 단위로 정밀하게 제어하여 최적의 생육 환경을 유지하는 중추적 역할을 수행합니다.</a:t>
            </a:r>
            <a:endParaRPr lang="en-US" sz="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60" y="3136202"/>
            <a:ext cx="178594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38591" y="3111199"/>
            <a:ext cx="1090042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무중단 운영의 필수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688560" y="3375518"/>
            <a:ext cx="25503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대규모 스마트팜일수록 수동 점검이 불가능하며, 24/7 무중단 가동이 전체 생산성을 결정하는 핵심 요소입니다.</a:t>
            </a:r>
            <a:endParaRPr lang="en-US" sz="800" dirty="0"/>
          </a:p>
        </p:txBody>
      </p:sp>
      <p:sp>
        <p:nvSpPr>
          <p:cNvPr id="13" name="Shape 7"/>
          <p:cNvSpPr/>
          <p:nvPr/>
        </p:nvSpPr>
        <p:spPr>
          <a:xfrm>
            <a:off x="3988254" y="1113851"/>
            <a:ext cx="4701305" cy="3429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8"/>
          <p:cNvSpPr/>
          <p:nvPr/>
        </p:nvSpPr>
        <p:spPr>
          <a:xfrm>
            <a:off x="3988254" y="1096707"/>
            <a:ext cx="4701305" cy="45719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9707" y="1163327"/>
            <a:ext cx="3616942" cy="3358623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718457" y="449035"/>
            <a:ext cx="45719" cy="236765"/>
          </a:xfrm>
          <a:prstGeom prst="rect">
            <a:avLst/>
          </a:prstGeom>
          <a:solidFill>
            <a:srgbClr val="059669"/>
          </a:solidFill>
          <a:ln/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0"/>
          <p:cNvSpPr/>
          <p:nvPr/>
        </p:nvSpPr>
        <p:spPr>
          <a:xfrm>
            <a:off x="714375" y="428625"/>
            <a:ext cx="3540328" cy="26379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ko-KR" sz="1602" b="1" dirty="0" err="1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양액</a:t>
            </a:r>
            <a:r>
              <a:rPr lang="en-US" altLang="ko-KR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602" b="1" dirty="0" err="1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시스템</a:t>
            </a:r>
            <a:r>
              <a:rPr lang="en-US" altLang="ko-KR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602" b="1" dirty="0" err="1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중요성</a:t>
            </a:r>
            <a:r>
              <a:rPr lang="en-US" altLang="ko-KR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및 </a:t>
            </a:r>
            <a:r>
              <a:rPr lang="en-US" altLang="ko-KR" sz="1602" b="1" dirty="0" err="1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공급</a:t>
            </a:r>
            <a:r>
              <a:rPr lang="en-US" altLang="ko-KR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altLang="ko-KR" sz="1602" b="1" dirty="0" err="1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프로세스</a:t>
            </a:r>
            <a:endParaRPr lang="en-US" altLang="ko-KR" sz="1602" dirty="0"/>
          </a:p>
        </p:txBody>
      </p:sp>
      <p:sp>
        <p:nvSpPr>
          <p:cNvPr id="19" name="TextBox 18"/>
          <p:cNvSpPr txBox="1"/>
          <p:nvPr/>
        </p:nvSpPr>
        <p:spPr>
          <a:xfrm>
            <a:off x="7416269" y="4553733"/>
            <a:ext cx="13596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 smtClean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</a:t>
            </a:r>
            <a:r>
              <a:rPr lang="ko-KR" altLang="en-US" sz="700" dirty="0" smtClean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출처 </a:t>
            </a:r>
            <a:r>
              <a:rPr lang="en-US" altLang="ko-KR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r>
              <a:rPr lang="ko-KR" altLang="en-US" sz="700" dirty="0" err="1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우성하이텍</a:t>
            </a:r>
            <a:r>
              <a:rPr lang="ko-KR" altLang="en-US" sz="7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ko-KR" altLang="en-US" sz="700" dirty="0" smtClean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홈페이지 </a:t>
            </a:r>
            <a:r>
              <a:rPr lang="en-US" altLang="ko-KR" sz="700" dirty="0" smtClean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]</a:t>
            </a:r>
            <a:endParaRPr lang="ko-KR" altLang="en-US" sz="700" dirty="0">
              <a:solidFill>
                <a:srgbClr val="47556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노드팁 막힘 이슈와 경제적 손실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4375" y="1023342"/>
            <a:ext cx="2457450" cy="1285875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2457450" y="1594842"/>
            <a:ext cx="857250" cy="85725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1410891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381116" y="1975247"/>
            <a:ext cx="112396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주요 발생 원인</a:t>
            </a:r>
            <a:endParaRPr lang="en-US" sz="1193" dirty="0"/>
          </a:p>
        </p:txBody>
      </p:sp>
      <p:sp>
        <p:nvSpPr>
          <p:cNvPr id="8" name="Shape 3"/>
          <p:cNvSpPr/>
          <p:nvPr/>
        </p:nvSpPr>
        <p:spPr>
          <a:xfrm>
            <a:off x="714375" y="2309217"/>
            <a:ext cx="245745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4"/>
          <p:cNvSpPr/>
          <p:nvPr/>
        </p:nvSpPr>
        <p:spPr>
          <a:xfrm>
            <a:off x="714375" y="2309217"/>
            <a:ext cx="2457450" cy="42863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88" y="2587823"/>
            <a:ext cx="75009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03709" y="2559248"/>
            <a:ext cx="153038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염분 축적</a:t>
            </a: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비료 성분의 고형화</a:t>
            </a:r>
            <a:endParaRPr lang="en-US" sz="784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688" y="2927849"/>
            <a:ext cx="112514" cy="1000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1214" y="2899274"/>
            <a:ext cx="167643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유기물 증식</a:t>
            </a: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배관 내 미생물 번식</a:t>
            </a:r>
            <a:endParaRPr lang="en-US" sz="784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688" y="3267875"/>
            <a:ext cx="100013" cy="10001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28713" y="3239300"/>
            <a:ext cx="14986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스케일링</a:t>
            </a: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화학적 결정체 형성</a:t>
            </a:r>
            <a:endParaRPr lang="en-US" sz="784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688" y="3607901"/>
            <a:ext cx="100013" cy="10001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28713" y="3579326"/>
            <a:ext cx="141608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미세 이물질</a:t>
            </a: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외부 유입 물질</a:t>
            </a:r>
            <a:endParaRPr lang="en-US" sz="784" dirty="0"/>
          </a:p>
        </p:txBody>
      </p:sp>
      <p:sp>
        <p:nvSpPr>
          <p:cNvPr id="18" name="Shape 9"/>
          <p:cNvSpPr/>
          <p:nvPr/>
        </p:nvSpPr>
        <p:spPr>
          <a:xfrm>
            <a:off x="3343275" y="1023342"/>
            <a:ext cx="2457450" cy="1285875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tretch>
            <a:fillRect/>
          </a:stretch>
        </p:blipFill>
        <p:spPr>
          <a:xfrm>
            <a:off x="5086350" y="1594842"/>
            <a:ext cx="857250" cy="85725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924291" y="1978819"/>
            <a:ext cx="129541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생산성 저하 결과</a:t>
            </a:r>
            <a:endParaRPr lang="en-US" sz="1193" dirty="0"/>
          </a:p>
        </p:txBody>
      </p:sp>
      <p:sp>
        <p:nvSpPr>
          <p:cNvPr id="21" name="Shape 11"/>
          <p:cNvSpPr/>
          <p:nvPr/>
        </p:nvSpPr>
        <p:spPr>
          <a:xfrm>
            <a:off x="3343275" y="2309217"/>
            <a:ext cx="245745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Shape 12"/>
          <p:cNvSpPr/>
          <p:nvPr/>
        </p:nvSpPr>
        <p:spPr>
          <a:xfrm>
            <a:off x="3343275" y="2309217"/>
            <a:ext cx="2457450" cy="42863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7588" y="2587823"/>
            <a:ext cx="100013" cy="100013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3757613" y="2559248"/>
            <a:ext cx="138432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상품성 하락</a:t>
            </a: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불균일한 품질</a:t>
            </a:r>
            <a:endParaRPr lang="en-US" sz="784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57588" y="2927849"/>
            <a:ext cx="75009" cy="100013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3732609" y="2899274"/>
            <a:ext cx="141608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수확량 급감</a:t>
            </a: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양액 공급 부족</a:t>
            </a:r>
            <a:endParaRPr lang="en-US" sz="784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7588" y="3267875"/>
            <a:ext cx="87511" cy="100013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3745111" y="3239300"/>
            <a:ext cx="144783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작물 폐사</a:t>
            </a: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조기 발견 실패 시</a:t>
            </a:r>
            <a:endParaRPr lang="en-US" sz="784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57588" y="3607901"/>
            <a:ext cx="125016" cy="100013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3782616" y="3579326"/>
            <a:ext cx="153038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경쟁력 약화</a:t>
            </a: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농가 수익성 악화</a:t>
            </a:r>
            <a:endParaRPr lang="en-US" sz="784" dirty="0"/>
          </a:p>
        </p:txBody>
      </p:sp>
      <p:sp>
        <p:nvSpPr>
          <p:cNvPr id="31" name="Shape 17"/>
          <p:cNvSpPr/>
          <p:nvPr/>
        </p:nvSpPr>
        <p:spPr>
          <a:xfrm>
            <a:off x="5972175" y="1023342"/>
            <a:ext cx="2457450" cy="128587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5">
            <a:alphaModFix amt="5000"/>
          </a:blip>
          <a:stretch>
            <a:fillRect/>
          </a:stretch>
        </p:blipFill>
        <p:spPr>
          <a:xfrm>
            <a:off x="7500938" y="1594842"/>
            <a:ext cx="1071563" cy="857250"/>
          </a:xfrm>
          <a:prstGeom prst="rect">
            <a:avLst/>
          </a:prstGeom>
        </p:spPr>
      </p:pic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72300" y="1410891"/>
            <a:ext cx="457200" cy="457200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6467466" y="1975247"/>
            <a:ext cx="146686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기계적/경제적 손실</a:t>
            </a:r>
            <a:endParaRPr lang="en-US" sz="1193" dirty="0"/>
          </a:p>
        </p:txBody>
      </p:sp>
      <p:sp>
        <p:nvSpPr>
          <p:cNvPr id="35" name="Shape 19"/>
          <p:cNvSpPr/>
          <p:nvPr/>
        </p:nvSpPr>
        <p:spPr>
          <a:xfrm>
            <a:off x="5972175" y="2309217"/>
            <a:ext cx="245745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Shape 20"/>
          <p:cNvSpPr/>
          <p:nvPr/>
        </p:nvSpPr>
        <p:spPr>
          <a:xfrm>
            <a:off x="5972175" y="2309217"/>
            <a:ext cx="2457450" cy="42863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7" name="Text 21"/>
          <p:cNvSpPr/>
          <p:nvPr/>
        </p:nvSpPr>
        <p:spPr>
          <a:xfrm>
            <a:off x="6286500" y="2559248"/>
            <a:ext cx="156213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모터 과부하</a:t>
            </a: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배관 내 압력 상승</a:t>
            </a:r>
            <a:endParaRPr lang="en-US" sz="784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86488" y="2927849"/>
            <a:ext cx="75009" cy="100013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6361509" y="2899274"/>
            <a:ext cx="153038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기계 노후화</a:t>
            </a: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부품 마모 가속화</a:t>
            </a:r>
            <a:endParaRPr lang="en-US" sz="784" dirty="0"/>
          </a:p>
        </p:txBody>
      </p:sp>
      <p:pic>
        <p:nvPicPr>
          <p:cNvPr id="40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86488" y="3267875"/>
            <a:ext cx="112514" cy="100013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6399014" y="3239300"/>
            <a:ext cx="156213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수리 비용</a:t>
            </a: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돌발 고장 대응 지출</a:t>
            </a:r>
            <a:endParaRPr lang="en-US" sz="784" dirty="0"/>
          </a:p>
        </p:txBody>
      </p:sp>
      <p:pic>
        <p:nvPicPr>
          <p:cNvPr id="42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86488" y="3607901"/>
            <a:ext cx="100013" cy="100013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6386513" y="3579326"/>
            <a:ext cx="158753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Downtime</a:t>
            </a: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가동 중단 기회비용</a:t>
            </a:r>
            <a:endParaRPr lang="en-US" sz="784" dirty="0"/>
          </a:p>
        </p:txBody>
      </p:sp>
      <p:pic>
        <p:nvPicPr>
          <p:cNvPr id="44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4375" y="4739878"/>
            <a:ext cx="100013" cy="100013"/>
          </a:xfrm>
          <a:prstGeom prst="rect">
            <a:avLst/>
          </a:prstGeom>
        </p:spPr>
      </p:pic>
      <p:sp>
        <p:nvSpPr>
          <p:cNvPr id="45" name="Text 25"/>
          <p:cNvSpPr/>
          <p:nvPr/>
        </p:nvSpPr>
        <p:spPr>
          <a:xfrm>
            <a:off x="885825" y="4722019"/>
            <a:ext cx="45617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노드팁 막힘은 단순한 설비 문제를 넘어 농가 전체의 경제적 지속가능성을 위협하는 핵심 리스크입니다.</a:t>
            </a:r>
            <a:endParaRPr lang="en-US" sz="727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8739" y="1367816"/>
            <a:ext cx="518133" cy="518133"/>
          </a:xfrm>
          <a:prstGeom prst="rect">
            <a:avLst/>
          </a:prstGeom>
          <a:noFill/>
          <a:ln/>
        </p:spPr>
      </p:pic>
      <p:sp>
        <p:nvSpPr>
          <p:cNvPr id="48" name="직사각형 47"/>
          <p:cNvSpPr/>
          <p:nvPr/>
        </p:nvSpPr>
        <p:spPr>
          <a:xfrm>
            <a:off x="718457" y="449035"/>
            <a:ext cx="45719" cy="236765"/>
          </a:xfrm>
          <a:prstGeom prst="rect">
            <a:avLst/>
          </a:prstGeom>
          <a:solidFill>
            <a:srgbClr val="059669"/>
          </a:solidFill>
          <a:ln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예지보전 도입의 기대효과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4375" y="1094780"/>
            <a:ext cx="2428875" cy="31432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1094780"/>
            <a:ext cx="2428875" cy="2857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3"/>
          <p:cNvSpPr/>
          <p:nvPr/>
        </p:nvSpPr>
        <p:spPr>
          <a:xfrm>
            <a:off x="1607344" y="1309092"/>
            <a:ext cx="642938" cy="64293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938" y="1487686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1103" y="2130623"/>
            <a:ext cx="129541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선제적 대응 체계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928688" y="2505670"/>
            <a:ext cx="2000250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문제가 발생하기 전 여러 로우 데이터를 통해 이상 징후를 포착하고, 돌발 고장 발생을 사전에 차단합니다.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1239831" y="3302896"/>
            <a:ext cx="1377962" cy="2982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7"/>
          <p:cNvSpPr/>
          <p:nvPr/>
        </p:nvSpPr>
        <p:spPr>
          <a:xfrm>
            <a:off x="1239831" y="3302896"/>
            <a:ext cx="1377962" cy="29825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Zero-Downtime 구현</a:t>
            </a:r>
            <a:endParaRPr lang="en-US" sz="784" dirty="0"/>
          </a:p>
        </p:txBody>
      </p:sp>
      <p:sp>
        <p:nvSpPr>
          <p:cNvPr id="12" name="Shape 8"/>
          <p:cNvSpPr/>
          <p:nvPr/>
        </p:nvSpPr>
        <p:spPr>
          <a:xfrm>
            <a:off x="3357563" y="1094780"/>
            <a:ext cx="2428875" cy="31432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9"/>
          <p:cNvSpPr/>
          <p:nvPr/>
        </p:nvSpPr>
        <p:spPr>
          <a:xfrm>
            <a:off x="3357563" y="1094780"/>
            <a:ext cx="2428875" cy="285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0"/>
          <p:cNvSpPr/>
          <p:nvPr/>
        </p:nvSpPr>
        <p:spPr>
          <a:xfrm>
            <a:off x="4250531" y="1309092"/>
            <a:ext cx="642938" cy="64293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25" y="1487686"/>
            <a:ext cx="285750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24291" y="2130623"/>
            <a:ext cx="129541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운영 비용 최적화</a:t>
            </a:r>
            <a:endParaRPr lang="en-US" sz="1193" dirty="0"/>
          </a:p>
        </p:txBody>
      </p:sp>
      <p:sp>
        <p:nvSpPr>
          <p:cNvPr id="17" name="Text 12"/>
          <p:cNvSpPr/>
          <p:nvPr/>
        </p:nvSpPr>
        <p:spPr>
          <a:xfrm>
            <a:off x="3571875" y="2505670"/>
            <a:ext cx="2000250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고가 장비의 급격한 노후화를 방지하고, 부품 교체 주기를 최적화하여 불필요한 지출을 획기적으로 줄입니다.</a:t>
            </a:r>
            <a:endParaRPr lang="en-US" sz="834" dirty="0"/>
          </a:p>
        </p:txBody>
      </p:sp>
      <p:sp>
        <p:nvSpPr>
          <p:cNvPr id="18" name="Shape 13"/>
          <p:cNvSpPr/>
          <p:nvPr/>
        </p:nvSpPr>
        <p:spPr>
          <a:xfrm>
            <a:off x="3882935" y="3302896"/>
            <a:ext cx="1378130" cy="2982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4"/>
          <p:cNvSpPr/>
          <p:nvPr/>
        </p:nvSpPr>
        <p:spPr>
          <a:xfrm>
            <a:off x="3882935" y="3302896"/>
            <a:ext cx="1378130" cy="312906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 err="1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유지보수비</a:t>
            </a:r>
            <a:r>
              <a:rPr lang="en-US" sz="784" b="1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절감</a:t>
            </a:r>
            <a:endParaRPr lang="en-US" sz="784" dirty="0"/>
          </a:p>
        </p:txBody>
      </p:sp>
      <p:sp>
        <p:nvSpPr>
          <p:cNvPr id="20" name="Shape 15"/>
          <p:cNvSpPr/>
          <p:nvPr/>
        </p:nvSpPr>
        <p:spPr>
          <a:xfrm>
            <a:off x="6000750" y="1094780"/>
            <a:ext cx="2428875" cy="31432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000750" y="1094780"/>
            <a:ext cx="2428875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17"/>
          <p:cNvSpPr/>
          <p:nvPr/>
        </p:nvSpPr>
        <p:spPr>
          <a:xfrm>
            <a:off x="6893719" y="1309092"/>
            <a:ext cx="642938" cy="64293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313" y="1487686"/>
            <a:ext cx="285750" cy="2857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77006" y="2130623"/>
            <a:ext cx="1076334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생산성 극대화</a:t>
            </a:r>
            <a:endParaRPr lang="en-US" sz="1193" dirty="0"/>
          </a:p>
        </p:txBody>
      </p:sp>
      <p:sp>
        <p:nvSpPr>
          <p:cNvPr id="25" name="Text 19"/>
          <p:cNvSpPr/>
          <p:nvPr/>
        </p:nvSpPr>
        <p:spPr>
          <a:xfrm>
            <a:off x="6215063" y="2505670"/>
            <a:ext cx="2000250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균등한 수확물 품질 유지와 안정적인 수확량 확보를 통해 농가 수익의 예측 가능성을 높입니다.</a:t>
            </a:r>
            <a:endParaRPr lang="en-US" sz="834" dirty="0"/>
          </a:p>
        </p:txBody>
      </p:sp>
      <p:sp>
        <p:nvSpPr>
          <p:cNvPr id="26" name="Shape 20"/>
          <p:cNvSpPr/>
          <p:nvPr/>
        </p:nvSpPr>
        <p:spPr>
          <a:xfrm>
            <a:off x="6510244" y="3302896"/>
            <a:ext cx="1409886" cy="2982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1"/>
          <p:cNvSpPr/>
          <p:nvPr/>
        </p:nvSpPr>
        <p:spPr>
          <a:xfrm>
            <a:off x="6510244" y="3302896"/>
            <a:ext cx="1409886" cy="312906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 err="1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수확량</a:t>
            </a:r>
            <a:r>
              <a:rPr lang="en-US" sz="784" b="1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ko-KR" altLang="en-US" sz="784" b="1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및 품질</a:t>
            </a:r>
            <a:r>
              <a:rPr lang="en-US" sz="784" b="1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784" b="1" dirty="0" err="1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증대</a:t>
            </a:r>
            <a:endParaRPr lang="en-US" sz="784" dirty="0"/>
          </a:p>
        </p:txBody>
      </p:sp>
      <p:sp>
        <p:nvSpPr>
          <p:cNvPr id="28" name="Shape 2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3"/>
          <p:cNvSpPr/>
          <p:nvPr/>
        </p:nvSpPr>
        <p:spPr>
          <a:xfrm>
            <a:off x="0" y="4572000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4"/>
          <p:cNvSpPr/>
          <p:nvPr/>
        </p:nvSpPr>
        <p:spPr>
          <a:xfrm>
            <a:off x="0" y="4750594"/>
            <a:ext cx="9144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"문제가 발생하기 전 데이터로 먼저 대응하여 스마트팜의 안정적 수익을 보장합니다."</a:t>
            </a:r>
            <a:endParaRPr lang="en-US" sz="987" dirty="0"/>
          </a:p>
        </p:txBody>
      </p:sp>
      <p:sp>
        <p:nvSpPr>
          <p:cNvPr id="32" name="직사각형 31"/>
          <p:cNvSpPr/>
          <p:nvPr/>
        </p:nvSpPr>
        <p:spPr>
          <a:xfrm>
            <a:off x="718457" y="449035"/>
            <a:ext cx="45719" cy="236765"/>
          </a:xfrm>
          <a:prstGeom prst="rect">
            <a:avLst/>
          </a:prstGeom>
          <a:solidFill>
            <a:srgbClr val="059669"/>
          </a:solidFill>
          <a:ln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714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1"/>
          <p:cNvSpPr/>
          <p:nvPr/>
        </p:nvSpPr>
        <p:spPr>
          <a:xfrm>
            <a:off x="3993468" y="857250"/>
            <a:ext cx="1157064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0"/>
              </a:lnSpc>
              <a:buNone/>
            </a:pPr>
            <a:r>
              <a:rPr lang="en-US" sz="8291" b="1" kern="0" spc="-6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291" dirty="0"/>
          </a:p>
        </p:txBody>
      </p:sp>
      <p:sp>
        <p:nvSpPr>
          <p:cNvPr id="5" name="Text 2"/>
          <p:cNvSpPr/>
          <p:nvPr/>
        </p:nvSpPr>
        <p:spPr>
          <a:xfrm>
            <a:off x="2591953" y="2350294"/>
            <a:ext cx="396009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kern="0" spc="5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03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2591953" y="2689622"/>
            <a:ext cx="3960093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kern="0" spc="-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분석 및 학습</a:t>
            </a:r>
            <a:endParaRPr lang="en-US" sz="3294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가상환경 데이터셋 구성 및 수집 변수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4375" y="1094780"/>
            <a:ext cx="3059953" cy="300037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1094780"/>
            <a:ext cx="3059953" cy="2857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1334095"/>
            <a:ext cx="125016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5141" y="1309092"/>
            <a:ext cx="15081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가상환경 데이터셋 정의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928688" y="1680567"/>
            <a:ext cx="263132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스마트팜 실제 운영 환경을 정밀하게 모사한 가상 센서 네트워크를 구축하여 고품질의 학습용 로우 데이터를 생성했습니다.</a:t>
            </a:r>
            <a:endParaRPr lang="en-US" sz="727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8" y="2505280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2988" y="2501708"/>
            <a:ext cx="10096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막힘 시나리오 구성</a:t>
            </a:r>
            <a:endParaRPr lang="en-US" sz="784" dirty="0"/>
          </a:p>
        </p:txBody>
      </p:sp>
      <p:sp>
        <p:nvSpPr>
          <p:cNvPr id="11" name="Text 6"/>
          <p:cNvSpPr/>
          <p:nvPr/>
        </p:nvSpPr>
        <p:spPr>
          <a:xfrm>
            <a:off x="928688" y="2716020"/>
            <a:ext cx="263132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정상 가동 상태부터 노드팁 </a:t>
            </a:r>
            <a:r>
              <a:rPr lang="en-US" sz="683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~ 100% 단계별 막힘 상황</a:t>
            </a: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5,000건 이상의 시계열 데이터로 시뮬레이션하여 모델의 민감도를 확보했습니다.</a:t>
            </a:r>
            <a:endParaRPr lang="en-US" sz="727" dirty="0"/>
          </a:p>
        </p:txBody>
      </p:sp>
      <p:sp>
        <p:nvSpPr>
          <p:cNvPr id="12" name="Shape 7"/>
          <p:cNvSpPr/>
          <p:nvPr/>
        </p:nvSpPr>
        <p:spPr>
          <a:xfrm>
            <a:off x="4131515" y="1094780"/>
            <a:ext cx="1289419" cy="250031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3" name="Shape 8"/>
          <p:cNvSpPr/>
          <p:nvPr/>
        </p:nvSpPr>
        <p:spPr>
          <a:xfrm>
            <a:off x="4131515" y="1330523"/>
            <a:ext cx="1289419" cy="14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9"/>
          <p:cNvSpPr/>
          <p:nvPr/>
        </p:nvSpPr>
        <p:spPr>
          <a:xfrm>
            <a:off x="4131515" y="1094780"/>
            <a:ext cx="1289419" cy="25003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수집 변수 (Feature)</a:t>
            </a:r>
            <a:endParaRPr lang="en-US" sz="683" dirty="0"/>
          </a:p>
        </p:txBody>
      </p:sp>
      <p:sp>
        <p:nvSpPr>
          <p:cNvPr id="15" name="Shape 10"/>
          <p:cNvSpPr/>
          <p:nvPr/>
        </p:nvSpPr>
        <p:spPr>
          <a:xfrm>
            <a:off x="5420934" y="1094780"/>
            <a:ext cx="3008691" cy="250031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6" name="Shape 11"/>
          <p:cNvSpPr/>
          <p:nvPr/>
        </p:nvSpPr>
        <p:spPr>
          <a:xfrm>
            <a:off x="5420934" y="1330523"/>
            <a:ext cx="3008691" cy="14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2"/>
          <p:cNvSpPr/>
          <p:nvPr/>
        </p:nvSpPr>
        <p:spPr>
          <a:xfrm>
            <a:off x="5420934" y="1094780"/>
            <a:ext cx="3008691" cy="25003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의미 및 분석 목적</a:t>
            </a:r>
            <a:endParaRPr lang="en-US" sz="683" dirty="0"/>
          </a:p>
        </p:txBody>
      </p:sp>
      <p:sp>
        <p:nvSpPr>
          <p:cNvPr id="18" name="Text 13"/>
          <p:cNvSpPr/>
          <p:nvPr/>
        </p:nvSpPr>
        <p:spPr>
          <a:xfrm>
            <a:off x="4238672" y="1466255"/>
            <a:ext cx="821531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유량 (Flow Rate)</a:t>
            </a:r>
            <a:endParaRPr lang="en-US" sz="734" dirty="0"/>
          </a:p>
        </p:txBody>
      </p:sp>
      <p:sp>
        <p:nvSpPr>
          <p:cNvPr id="19" name="Text 14"/>
          <p:cNvSpPr/>
          <p:nvPr/>
        </p:nvSpPr>
        <p:spPr>
          <a:xfrm>
            <a:off x="4238672" y="1616273"/>
            <a:ext cx="24765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L/min</a:t>
            </a:r>
            <a:endParaRPr lang="en-US" sz="634" dirty="0"/>
          </a:p>
        </p:txBody>
      </p:sp>
      <p:sp>
        <p:nvSpPr>
          <p:cNvPr id="20" name="Text 15"/>
          <p:cNvSpPr/>
          <p:nvPr/>
        </p:nvSpPr>
        <p:spPr>
          <a:xfrm>
            <a:off x="5420934" y="1337667"/>
            <a:ext cx="3008691" cy="400050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공급되는 양액의 실시간 부피 흐름 측정 (막힘의 직접적 지표)</a:t>
            </a:r>
            <a:endParaRPr lang="en-US" sz="780" dirty="0"/>
          </a:p>
        </p:txBody>
      </p:sp>
      <p:sp>
        <p:nvSpPr>
          <p:cNvPr id="21" name="Text 16"/>
          <p:cNvSpPr/>
          <p:nvPr/>
        </p:nvSpPr>
        <p:spPr>
          <a:xfrm>
            <a:off x="4238672" y="1859161"/>
            <a:ext cx="774176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압력 (Pressure)</a:t>
            </a:r>
            <a:endParaRPr lang="en-US" sz="734" dirty="0"/>
          </a:p>
        </p:txBody>
      </p:sp>
      <p:sp>
        <p:nvSpPr>
          <p:cNvPr id="22" name="Text 17"/>
          <p:cNvSpPr/>
          <p:nvPr/>
        </p:nvSpPr>
        <p:spPr>
          <a:xfrm>
            <a:off x="4238672" y="2009180"/>
            <a:ext cx="38718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/ kPa</a:t>
            </a:r>
            <a:endParaRPr lang="en-US" sz="634" dirty="0"/>
          </a:p>
        </p:txBody>
      </p:sp>
      <p:sp>
        <p:nvSpPr>
          <p:cNvPr id="23" name="Text 18"/>
          <p:cNvSpPr/>
          <p:nvPr/>
        </p:nvSpPr>
        <p:spPr>
          <a:xfrm>
            <a:off x="5420934" y="1737717"/>
            <a:ext cx="3008691" cy="38219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배관 내 유체 저항 측정 (노드팁 막힘 시 급격한 상승 패턴)</a:t>
            </a:r>
            <a:endParaRPr lang="en-US" sz="780" dirty="0"/>
          </a:p>
        </p:txBody>
      </p:sp>
      <p:sp>
        <p:nvSpPr>
          <p:cNvPr id="24" name="Text 19"/>
          <p:cNvSpPr/>
          <p:nvPr/>
        </p:nvSpPr>
        <p:spPr>
          <a:xfrm>
            <a:off x="4238672" y="2241352"/>
            <a:ext cx="946519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펌프 전류 (Current)</a:t>
            </a:r>
            <a:endParaRPr lang="en-US" sz="734" dirty="0"/>
          </a:p>
        </p:txBody>
      </p:sp>
      <p:sp>
        <p:nvSpPr>
          <p:cNvPr id="25" name="Text 20"/>
          <p:cNvSpPr/>
          <p:nvPr/>
        </p:nvSpPr>
        <p:spPr>
          <a:xfrm>
            <a:off x="4238672" y="2391370"/>
            <a:ext cx="34583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Ampere</a:t>
            </a:r>
            <a:endParaRPr lang="en-US" sz="634" dirty="0"/>
          </a:p>
        </p:txBody>
      </p:sp>
      <p:sp>
        <p:nvSpPr>
          <p:cNvPr id="26" name="Text 21"/>
          <p:cNvSpPr/>
          <p:nvPr/>
        </p:nvSpPr>
        <p:spPr>
          <a:xfrm>
            <a:off x="5420934" y="2119908"/>
            <a:ext cx="3008691" cy="38219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모터 부하 상태 측정 (압력 상승에 따른 모터 과부하 감지)</a:t>
            </a:r>
            <a:endParaRPr lang="en-US" sz="780" dirty="0"/>
          </a:p>
        </p:txBody>
      </p:sp>
      <p:sp>
        <p:nvSpPr>
          <p:cNvPr id="27" name="Text 22"/>
          <p:cNvSpPr/>
          <p:nvPr/>
        </p:nvSpPr>
        <p:spPr>
          <a:xfrm>
            <a:off x="4238672" y="2623542"/>
            <a:ext cx="988182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가동 시간 (Runtime)</a:t>
            </a:r>
            <a:endParaRPr lang="en-US" sz="734" dirty="0"/>
          </a:p>
        </p:txBody>
      </p:sp>
      <p:sp>
        <p:nvSpPr>
          <p:cNvPr id="28" name="Text 23"/>
          <p:cNvSpPr/>
          <p:nvPr/>
        </p:nvSpPr>
        <p:spPr>
          <a:xfrm>
            <a:off x="4238672" y="2773561"/>
            <a:ext cx="3870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Seconds</a:t>
            </a:r>
            <a:endParaRPr lang="en-US" sz="634" dirty="0"/>
          </a:p>
        </p:txBody>
      </p:sp>
      <p:sp>
        <p:nvSpPr>
          <p:cNvPr id="29" name="Text 24"/>
          <p:cNvSpPr/>
          <p:nvPr/>
        </p:nvSpPr>
        <p:spPr>
          <a:xfrm>
            <a:off x="5420934" y="2502098"/>
            <a:ext cx="3008691" cy="382191"/>
          </a:xfrm>
          <a:prstGeom prst="rect">
            <a:avLst/>
          </a:prstGeom>
          <a:noFill/>
          <a:ln/>
        </p:spPr>
        <p:txBody>
          <a:bodyPr wrap="square" lIns="127508" tIns="127508" rIns="127508" bIns="0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펌프 기동 및 정지 시점 기록 (오버슈트 데이터 보정용)</a:t>
            </a:r>
            <a:endParaRPr lang="en-US" sz="780" dirty="0"/>
          </a:p>
        </p:txBody>
      </p:sp>
      <p:sp>
        <p:nvSpPr>
          <p:cNvPr id="30" name="직사각형 29"/>
          <p:cNvSpPr/>
          <p:nvPr/>
        </p:nvSpPr>
        <p:spPr>
          <a:xfrm>
            <a:off x="718457" y="449035"/>
            <a:ext cx="45719" cy="236765"/>
          </a:xfrm>
          <a:prstGeom prst="rect">
            <a:avLst/>
          </a:prstGeom>
          <a:solidFill>
            <a:srgbClr val="F59E0B"/>
          </a:solidFill>
          <a:ln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EC/pH 센서 배제 및 물리 지표 채택 근거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4375" y="1094780"/>
            <a:ext cx="3714750" cy="3000375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1094780"/>
            <a:ext cx="3714750" cy="28575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1334095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7288" y="1309092"/>
            <a:ext cx="12223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C241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EC/pH 센서의 한계</a:t>
            </a:r>
            <a:endParaRPr lang="en-US" sz="987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8" y="1709142"/>
            <a:ext cx="100013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00138" y="1680567"/>
            <a:ext cx="1249793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잦은 오염 및 내구성 취약</a:t>
            </a:r>
            <a:endParaRPr lang="en-US" sz="784" dirty="0"/>
          </a:p>
        </p:txBody>
      </p:sp>
      <p:sp>
        <p:nvSpPr>
          <p:cNvPr id="10" name="Text 5"/>
          <p:cNvSpPr/>
          <p:nvPr/>
        </p:nvSpPr>
        <p:spPr>
          <a:xfrm>
            <a:off x="2421368" y="1680567"/>
            <a:ext cx="17934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화학적 노출로 인한 센서 수명 단축</a:t>
            </a:r>
            <a:endParaRPr lang="en-US" sz="834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88" y="2217744"/>
            <a:ext cx="100013" cy="1000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00138" y="2189169"/>
            <a:ext cx="133415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지속적 보정(Calibration) 필요</a:t>
            </a:r>
            <a:endParaRPr lang="en-US" sz="784" dirty="0"/>
          </a:p>
        </p:txBody>
      </p:sp>
      <p:sp>
        <p:nvSpPr>
          <p:cNvPr id="13" name="Text 7"/>
          <p:cNvSpPr/>
          <p:nvPr/>
        </p:nvSpPr>
        <p:spPr>
          <a:xfrm>
            <a:off x="2505726" y="2189169"/>
            <a:ext cx="1709086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현장 운영 시 높은 유지보수 공수 발생</a:t>
            </a:r>
            <a:endParaRPr lang="en-US" sz="834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688" y="2726345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00138" y="2697770"/>
            <a:ext cx="863612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반응 지연</a:t>
            </a:r>
            <a:endParaRPr lang="en-US" sz="784" dirty="0"/>
          </a:p>
        </p:txBody>
      </p:sp>
      <p:sp>
        <p:nvSpPr>
          <p:cNvPr id="16" name="Text 9"/>
          <p:cNvSpPr/>
          <p:nvPr/>
        </p:nvSpPr>
        <p:spPr>
          <a:xfrm>
            <a:off x="2035187" y="2697770"/>
            <a:ext cx="1905037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물리적 막힘을 즉각 반영하기 어려움</a:t>
            </a:r>
            <a:endParaRPr lang="en-US" sz="834" dirty="0"/>
          </a:p>
        </p:txBody>
      </p:sp>
      <p:sp>
        <p:nvSpPr>
          <p:cNvPr id="17" name="Shape 10"/>
          <p:cNvSpPr/>
          <p:nvPr/>
        </p:nvSpPr>
        <p:spPr>
          <a:xfrm>
            <a:off x="4714875" y="1094780"/>
            <a:ext cx="3714750" cy="300037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8" name="Shape 11"/>
          <p:cNvSpPr/>
          <p:nvPr/>
        </p:nvSpPr>
        <p:spPr>
          <a:xfrm>
            <a:off x="4714875" y="1094780"/>
            <a:ext cx="3714750" cy="2857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1334095"/>
            <a:ext cx="142875" cy="1428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157788" y="1309092"/>
            <a:ext cx="12223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물리적 지표의 강점</a:t>
            </a:r>
            <a:endParaRPr lang="en-US" sz="987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1709142"/>
            <a:ext cx="100013" cy="10001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100638" y="1680567"/>
            <a:ext cx="102992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기계적 상태 즉각 반영</a:t>
            </a:r>
            <a:endParaRPr lang="en-US" sz="784" dirty="0"/>
          </a:p>
        </p:txBody>
      </p:sp>
      <p:sp>
        <p:nvSpPr>
          <p:cNvPr id="23" name="Text 14"/>
          <p:cNvSpPr/>
          <p:nvPr/>
        </p:nvSpPr>
        <p:spPr>
          <a:xfrm>
            <a:off x="6202003" y="1680567"/>
            <a:ext cx="201331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유량/압력/전류는 막힘 징후를 실시간 노출</a:t>
            </a:r>
            <a:endParaRPr lang="en-US" sz="834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2217744"/>
            <a:ext cx="100013" cy="10001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00638" y="2189169"/>
            <a:ext cx="772167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높은 센서 신뢰도</a:t>
            </a:r>
            <a:endParaRPr lang="en-US" sz="784" dirty="0"/>
          </a:p>
        </p:txBody>
      </p:sp>
      <p:sp>
        <p:nvSpPr>
          <p:cNvPr id="26" name="Text 16"/>
          <p:cNvSpPr/>
          <p:nvPr/>
        </p:nvSpPr>
        <p:spPr>
          <a:xfrm>
            <a:off x="5944242" y="2189169"/>
            <a:ext cx="227107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산업용 센서 적용으로 장기간 안정적 데이터 확보</a:t>
            </a:r>
            <a:endParaRPr lang="en-US" sz="834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29188" y="2726345"/>
            <a:ext cx="100013" cy="100013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100638" y="2697770"/>
            <a:ext cx="944817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유지보수 부담 최소화</a:t>
            </a:r>
            <a:endParaRPr lang="en-US" sz="784" dirty="0"/>
          </a:p>
        </p:txBody>
      </p:sp>
      <p:sp>
        <p:nvSpPr>
          <p:cNvPr id="29" name="Text 18"/>
          <p:cNvSpPr/>
          <p:nvPr/>
        </p:nvSpPr>
        <p:spPr>
          <a:xfrm>
            <a:off x="6116892" y="2697770"/>
            <a:ext cx="209842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비접촉식 또는 내구성이 검증된 물리 센서 활용</a:t>
            </a:r>
            <a:endParaRPr lang="en-US" sz="834" dirty="0"/>
          </a:p>
        </p:txBody>
      </p:sp>
      <p:sp>
        <p:nvSpPr>
          <p:cNvPr id="30" name="Shape 1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Shape 20"/>
          <p:cNvSpPr/>
          <p:nvPr/>
        </p:nvSpPr>
        <p:spPr>
          <a:xfrm>
            <a:off x="0" y="4572000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1"/>
          <p:cNvSpPr/>
          <p:nvPr/>
        </p:nvSpPr>
        <p:spPr>
          <a:xfrm>
            <a:off x="0" y="4750594"/>
            <a:ext cx="9144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"운영 효율성과 탐지 정확도를 높이기 위해 물리적 지표 중심의 예지보전 모델링을 수행합니다."</a:t>
            </a:r>
            <a:endParaRPr lang="en-US" sz="885" dirty="0"/>
          </a:p>
        </p:txBody>
      </p:sp>
      <p:sp>
        <p:nvSpPr>
          <p:cNvPr id="33" name="직사각형 32"/>
          <p:cNvSpPr/>
          <p:nvPr/>
        </p:nvSpPr>
        <p:spPr>
          <a:xfrm>
            <a:off x="718457" y="449035"/>
            <a:ext cx="45719" cy="236765"/>
          </a:xfrm>
          <a:prstGeom prst="rect">
            <a:avLst/>
          </a:prstGeom>
          <a:solidFill>
            <a:srgbClr val="F59E0B"/>
          </a:solidFill>
          <a:ln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 및 SHAP 기반 핵심 인자 분석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4375" y="1023342"/>
            <a:ext cx="3714750" cy="32861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1023342"/>
            <a:ext cx="3714750" cy="2857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1223367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2994" y="1201936"/>
            <a:ext cx="16646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EDA: 정상 vs 이상 패턴 분석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892969" y="1516261"/>
            <a:ext cx="3357563" cy="178593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dash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3" y="1523405"/>
            <a:ext cx="3343275" cy="17716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2969" y="3445073"/>
            <a:ext cx="3357563" cy="43431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막힘 발생 시 </a:t>
            </a:r>
            <a:r>
              <a:rPr lang="en-US" sz="683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유량의 단계적 감소</a:t>
            </a: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와 함께 배관 내 </a:t>
            </a:r>
            <a:r>
              <a:rPr lang="en-US" sz="683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압력의 비정상적 변동</a:t>
            </a: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패턴이 뚜렷하게 관찰됨을 확인했습니다.</a:t>
            </a:r>
            <a:endParaRPr lang="en-US" sz="727" dirty="0"/>
          </a:p>
        </p:txBody>
      </p:sp>
      <p:sp>
        <p:nvSpPr>
          <p:cNvPr id="11" name="Shape 6"/>
          <p:cNvSpPr/>
          <p:nvPr/>
        </p:nvSpPr>
        <p:spPr>
          <a:xfrm>
            <a:off x="4714875" y="1023342"/>
            <a:ext cx="3714750" cy="32861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7"/>
          <p:cNvSpPr/>
          <p:nvPr/>
        </p:nvSpPr>
        <p:spPr>
          <a:xfrm>
            <a:off x="4714875" y="1023342"/>
            <a:ext cx="3714750" cy="2857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1223367"/>
            <a:ext cx="144661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09567" y="1201936"/>
            <a:ext cx="1407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SHAP: 변수 기여도 분석</a:t>
            </a:r>
            <a:endParaRPr lang="en-US" sz="885" dirty="0"/>
          </a:p>
        </p:txBody>
      </p:sp>
      <p:sp>
        <p:nvSpPr>
          <p:cNvPr id="15" name="Shape 9"/>
          <p:cNvSpPr/>
          <p:nvPr/>
        </p:nvSpPr>
        <p:spPr>
          <a:xfrm>
            <a:off x="4893469" y="1516261"/>
            <a:ext cx="3357563" cy="178593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dash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0613" y="1523405"/>
            <a:ext cx="3343275" cy="17716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93469" y="3445073"/>
            <a:ext cx="3357563" cy="434318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모델 결정에 있어 </a:t>
            </a:r>
            <a:r>
              <a:rPr lang="en-US" sz="683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유량(Flow)</a:t>
            </a: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 </a:t>
            </a:r>
            <a:r>
              <a:rPr lang="en-US" sz="683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압력(Pressure)</a:t>
            </a: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가장 높은 기여도를 보이며, 핵심 탐지 인자로 확정되었습니다.</a:t>
            </a:r>
            <a:endParaRPr lang="en-US" sz="727" dirty="0"/>
          </a:p>
        </p:txBody>
      </p:sp>
      <p:sp>
        <p:nvSpPr>
          <p:cNvPr id="18" name="직사각형 17"/>
          <p:cNvSpPr/>
          <p:nvPr/>
        </p:nvSpPr>
        <p:spPr>
          <a:xfrm>
            <a:off x="718457" y="449035"/>
            <a:ext cx="45719" cy="236765"/>
          </a:xfrm>
          <a:prstGeom prst="rect">
            <a:avLst/>
          </a:prstGeom>
          <a:solidFill>
            <a:srgbClr val="F59E0B"/>
          </a:solidFill>
          <a:ln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전처리 및 도메인 기반 보정 로직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4375" y="1023342"/>
            <a:ext cx="2428875" cy="27146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1023342"/>
            <a:ext cx="2428875" cy="285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892969" y="1237655"/>
            <a:ext cx="20716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01</a:t>
            </a:r>
            <a:endParaRPr lang="en-US" sz="683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1488579"/>
            <a:ext cx="15716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5856" y="1460897"/>
            <a:ext cx="829484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노이즈 정제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892969" y="1816298"/>
            <a:ext cx="2071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센서 데이터의 미세한 진동과 전기적 노이즈를 제거하기 위해 </a:t>
            </a:r>
            <a:r>
              <a:rPr lang="en-US" sz="73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이동 평균 필터(Moving Average)</a:t>
            </a: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적용하여 데이터의 추세를 명확화합니다.</a:t>
            </a:r>
            <a:endParaRPr lang="en-US" sz="780" dirty="0"/>
          </a:p>
        </p:txBody>
      </p:sp>
      <p:sp>
        <p:nvSpPr>
          <p:cNvPr id="10" name="Shape 6"/>
          <p:cNvSpPr/>
          <p:nvPr/>
        </p:nvSpPr>
        <p:spPr>
          <a:xfrm>
            <a:off x="3357563" y="1023342"/>
            <a:ext cx="2428875" cy="27146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7"/>
          <p:cNvSpPr/>
          <p:nvPr/>
        </p:nvSpPr>
        <p:spPr>
          <a:xfrm>
            <a:off x="3357563" y="1023342"/>
            <a:ext cx="2428875" cy="2857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8"/>
          <p:cNvSpPr/>
          <p:nvPr/>
        </p:nvSpPr>
        <p:spPr>
          <a:xfrm>
            <a:off x="3536156" y="1237655"/>
            <a:ext cx="20716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02</a:t>
            </a:r>
            <a:endParaRPr lang="en-US" sz="683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6156" y="1488579"/>
            <a:ext cx="157163" cy="1571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79044" y="1460897"/>
            <a:ext cx="1143809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오버슈트 마스킹</a:t>
            </a:r>
            <a:endParaRPr lang="en-US" sz="1090" dirty="0"/>
          </a:p>
        </p:txBody>
      </p:sp>
      <p:sp>
        <p:nvSpPr>
          <p:cNvPr id="15" name="Text 10"/>
          <p:cNvSpPr/>
          <p:nvPr/>
        </p:nvSpPr>
        <p:spPr>
          <a:xfrm>
            <a:off x="3536156" y="1816298"/>
            <a:ext cx="2071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펌프 기동 초기 발생하는 일시적 과부하(Overshoot) 데이터를 </a:t>
            </a:r>
            <a:r>
              <a:rPr lang="en-US" sz="73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도메인 지식 기반</a:t>
            </a: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식별하고, 분석 대상에서 제외하여 오탐률을 최소화합니다.</a:t>
            </a:r>
            <a:endParaRPr lang="en-US" sz="780" dirty="0"/>
          </a:p>
        </p:txBody>
      </p:sp>
      <p:sp>
        <p:nvSpPr>
          <p:cNvPr id="16" name="Shape 11"/>
          <p:cNvSpPr/>
          <p:nvPr/>
        </p:nvSpPr>
        <p:spPr>
          <a:xfrm>
            <a:off x="6000750" y="1023342"/>
            <a:ext cx="2428875" cy="27146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2"/>
          <p:cNvSpPr/>
          <p:nvPr/>
        </p:nvSpPr>
        <p:spPr>
          <a:xfrm>
            <a:off x="6000750" y="1023342"/>
            <a:ext cx="2428875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3"/>
          <p:cNvSpPr/>
          <p:nvPr/>
        </p:nvSpPr>
        <p:spPr>
          <a:xfrm>
            <a:off x="6179344" y="1237655"/>
            <a:ext cx="20716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03</a:t>
            </a:r>
            <a:endParaRPr lang="en-US" sz="683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344" y="1488579"/>
            <a:ext cx="157163" cy="15716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22231" y="1460897"/>
            <a:ext cx="986647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정규화</a:t>
            </a:r>
            <a:endParaRPr lang="en-US" sz="1090" dirty="0"/>
          </a:p>
        </p:txBody>
      </p:sp>
      <p:sp>
        <p:nvSpPr>
          <p:cNvPr id="21" name="Text 15"/>
          <p:cNvSpPr/>
          <p:nvPr/>
        </p:nvSpPr>
        <p:spPr>
          <a:xfrm>
            <a:off x="6179344" y="1816298"/>
            <a:ext cx="2071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유량, 압력, 전류 등 서로 다른 단위를 가진 변수들을 </a:t>
            </a:r>
            <a:r>
              <a:rPr lang="en-US" sz="73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Min-Max Scaling</a:t>
            </a:r>
            <a:r>
              <a:rPr lang="en-US" sz="78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통해 0~1 사이의 범위로 변환하여 모델 학습 효율을 극대화합니다.</a:t>
            </a:r>
            <a:endParaRPr lang="en-US" sz="780" dirty="0"/>
          </a:p>
        </p:txBody>
      </p:sp>
      <p:sp>
        <p:nvSpPr>
          <p:cNvPr id="22" name="Shape 16"/>
          <p:cNvSpPr/>
          <p:nvPr/>
        </p:nvSpPr>
        <p:spPr>
          <a:xfrm>
            <a:off x="0" y="4429125"/>
            <a:ext cx="9144000" cy="7143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17"/>
          <p:cNvSpPr/>
          <p:nvPr/>
        </p:nvSpPr>
        <p:spPr>
          <a:xfrm>
            <a:off x="0" y="4429125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7985" y="4789884"/>
            <a:ext cx="128588" cy="1714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39447" y="4789884"/>
            <a:ext cx="59365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단순 통계적 처리를 넘어 현장 설비의 물리적 특성을 반영한 보정 로직이 AI 모델의 실효성을 결정합니다.</a:t>
            </a:r>
            <a:endParaRPr lang="en-US" sz="885" dirty="0"/>
          </a:p>
        </p:txBody>
      </p:sp>
      <p:sp>
        <p:nvSpPr>
          <p:cNvPr id="26" name="직사각형 25"/>
          <p:cNvSpPr/>
          <p:nvPr/>
        </p:nvSpPr>
        <p:spPr>
          <a:xfrm>
            <a:off x="718457" y="449035"/>
            <a:ext cx="45719" cy="236765"/>
          </a:xfrm>
          <a:prstGeom prst="rect">
            <a:avLst/>
          </a:prstGeom>
          <a:solidFill>
            <a:srgbClr val="F59E0B"/>
          </a:solidFill>
          <a:ln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모델 아키텍처: Autoencoder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4375" y="1094780"/>
            <a:ext cx="2309803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1094780"/>
            <a:ext cx="2309803" cy="2857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388" y="1393031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2969" y="1880592"/>
            <a:ext cx="195261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Encoder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892969" y="2177058"/>
            <a:ext cx="19526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 데이터(유량, 압력 등)의 차원을 축소하며 핵심적인 특징 패턴을 추출하고 압축합니다.</a:t>
            </a:r>
            <a:endParaRPr lang="en-US" sz="78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7053" y="2144911"/>
            <a:ext cx="107156" cy="17145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417084" y="1094780"/>
            <a:ext cx="2309803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6"/>
          <p:cNvSpPr/>
          <p:nvPr/>
        </p:nvSpPr>
        <p:spPr>
          <a:xfrm>
            <a:off x="3417084" y="1094780"/>
            <a:ext cx="2309803" cy="2857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097" y="1393031"/>
            <a:ext cx="285750" cy="285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595678" y="1880592"/>
            <a:ext cx="195261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Latent Space</a:t>
            </a:r>
            <a:endParaRPr lang="en-US" sz="1090" dirty="0"/>
          </a:p>
        </p:txBody>
      </p:sp>
      <p:sp>
        <p:nvSpPr>
          <p:cNvPr id="14" name="Text 8"/>
          <p:cNvSpPr/>
          <p:nvPr/>
        </p:nvSpPr>
        <p:spPr>
          <a:xfrm>
            <a:off x="3595678" y="2177058"/>
            <a:ext cx="19526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정상 운전 상태의 고유한 '지문'이 저장되는 잠재 공간으로, 데이터의 본질적 구조를 유지합니다.</a:t>
            </a:r>
            <a:endParaRPr lang="en-US" sz="78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9763" y="2144911"/>
            <a:ext cx="107156" cy="17145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119794" y="1094780"/>
            <a:ext cx="2309803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0"/>
          <p:cNvSpPr/>
          <p:nvPr/>
        </p:nvSpPr>
        <p:spPr>
          <a:xfrm>
            <a:off x="6119794" y="1094780"/>
            <a:ext cx="2309803" cy="2857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1807" y="1393031"/>
            <a:ext cx="285750" cy="2857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98388" y="1880592"/>
            <a:ext cx="195261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Decoder</a:t>
            </a:r>
            <a:endParaRPr lang="en-US" sz="1090" dirty="0"/>
          </a:p>
        </p:txBody>
      </p:sp>
      <p:sp>
        <p:nvSpPr>
          <p:cNvPr id="20" name="Text 12"/>
          <p:cNvSpPr/>
          <p:nvPr/>
        </p:nvSpPr>
        <p:spPr>
          <a:xfrm>
            <a:off x="6298388" y="2177058"/>
            <a:ext cx="195261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잠재 공간의 정보를 바탕으로 원본 데이터를 다시 복원하며 학습된 정상 패턴을 재구성합니다.</a:t>
            </a:r>
            <a:endParaRPr lang="en-US" sz="780" dirty="0"/>
          </a:p>
        </p:txBody>
      </p:sp>
      <p:sp>
        <p:nvSpPr>
          <p:cNvPr id="21" name="Shape 13"/>
          <p:cNvSpPr/>
          <p:nvPr/>
        </p:nvSpPr>
        <p:spPr>
          <a:xfrm>
            <a:off x="0" y="4429125"/>
            <a:ext cx="9144000" cy="71437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Shape 14"/>
          <p:cNvSpPr/>
          <p:nvPr/>
        </p:nvSpPr>
        <p:spPr>
          <a:xfrm>
            <a:off x="0" y="4429125"/>
            <a:ext cx="9144000" cy="71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3" name="Text 15"/>
          <p:cNvSpPr/>
          <p:nvPr/>
        </p:nvSpPr>
        <p:spPr>
          <a:xfrm>
            <a:off x="0" y="4643438"/>
            <a:ext cx="91440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"정상 패턴과 다른 데이터 입력 시 발생하는 복원 오차(Reconstruction Error)를 통해 이상을 탐지합니다."</a:t>
            </a:r>
            <a:endParaRPr lang="en-US" sz="987" dirty="0"/>
          </a:p>
        </p:txBody>
      </p:sp>
      <p:sp>
        <p:nvSpPr>
          <p:cNvPr id="24" name="직사각형 23"/>
          <p:cNvSpPr/>
          <p:nvPr/>
        </p:nvSpPr>
        <p:spPr>
          <a:xfrm>
            <a:off x="718457" y="449035"/>
            <a:ext cx="45719" cy="236765"/>
          </a:xfrm>
          <a:prstGeom prst="rect">
            <a:avLst/>
          </a:prstGeom>
          <a:solidFill>
            <a:srgbClr val="F59E0B"/>
          </a:solidFill>
          <a:ln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 결과 및 정량적 성능 검증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4375" y="1023342"/>
            <a:ext cx="3182206" cy="10001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1023342"/>
            <a:ext cx="3182206" cy="285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892969" y="1201936"/>
            <a:ext cx="28250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 (종합 탐지 성능)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892969" y="1428750"/>
            <a:ext cx="2825018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0.945(94.5%)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714375" y="2166342"/>
            <a:ext cx="3182206" cy="10001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6"/>
          <p:cNvSpPr/>
          <p:nvPr/>
        </p:nvSpPr>
        <p:spPr>
          <a:xfrm>
            <a:off x="714375" y="2166342"/>
            <a:ext cx="3182206" cy="2857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892969" y="2344936"/>
            <a:ext cx="282501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/ Recall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892969" y="2548533"/>
            <a:ext cx="2825018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0.96 / 0.93</a:t>
            </a:r>
            <a:endParaRPr lang="en-US" sz="2121" dirty="0"/>
          </a:p>
        </p:txBody>
      </p:sp>
      <p:sp>
        <p:nvSpPr>
          <p:cNvPr id="12" name="Shape 9"/>
          <p:cNvSpPr/>
          <p:nvPr/>
        </p:nvSpPr>
        <p:spPr>
          <a:xfrm>
            <a:off x="714375" y="3309342"/>
            <a:ext cx="3182206" cy="10001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714375" y="3309342"/>
            <a:ext cx="3182206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892969" y="3487936"/>
            <a:ext cx="282501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Detection Time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892969" y="3691533"/>
            <a:ext cx="2825018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5min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4182331" y="1023342"/>
            <a:ext cx="4247294" cy="32861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4182331" y="1023342"/>
            <a:ext cx="4247294" cy="2857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643" y="1246584"/>
            <a:ext cx="128588" cy="128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96668" y="1237655"/>
            <a:ext cx="200781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&amp; Validation Loss Curve</a:t>
            </a:r>
            <a:endParaRPr lang="en-US" sz="885" dirty="0"/>
          </a:p>
        </p:txBody>
      </p:sp>
      <p:sp>
        <p:nvSpPr>
          <p:cNvPr id="20" name="Shape 16"/>
          <p:cNvSpPr/>
          <p:nvPr/>
        </p:nvSpPr>
        <p:spPr>
          <a:xfrm>
            <a:off x="4396643" y="1562695"/>
            <a:ext cx="3818669" cy="20002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643" y="1562695"/>
            <a:ext cx="3804047" cy="198596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96643" y="3820120"/>
            <a:ext cx="38186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Function의 안정적인 수렴을 통해 모델의 </a:t>
            </a:r>
            <a:r>
              <a:rPr lang="en-US" sz="683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과적합(Overfitting) 방지</a:t>
            </a: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확인하였으며, 미세한 이상 징후에 대해서도 높은 재현율을 확보했습니다.</a:t>
            </a:r>
            <a:endParaRPr lang="en-US" sz="727" dirty="0"/>
          </a:p>
        </p:txBody>
      </p:sp>
      <p:sp>
        <p:nvSpPr>
          <p:cNvPr id="23" name="직사각형 22"/>
          <p:cNvSpPr/>
          <p:nvPr/>
        </p:nvSpPr>
        <p:spPr>
          <a:xfrm>
            <a:off x="718457" y="449035"/>
            <a:ext cx="45719" cy="236765"/>
          </a:xfrm>
          <a:prstGeom prst="rect">
            <a:avLst/>
          </a:prstGeom>
          <a:solidFill>
            <a:srgbClr val="F59E0B"/>
          </a:solidFill>
          <a:ln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XAI 기반 탐지 근거 시각화 (SHAP)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4375" y="1023342"/>
            <a:ext cx="3714750" cy="345043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1023342"/>
            <a:ext cx="3714750" cy="2857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8" y="1344811"/>
            <a:ext cx="16073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0859" y="1237655"/>
            <a:ext cx="305395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전역적 변수 중요도 (Global Feature Importance)</a:t>
            </a:r>
            <a:endParaRPr lang="en-US" sz="987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8" y="1773436"/>
            <a:ext cx="3286125" cy="20002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8688" y="4102298"/>
            <a:ext cx="3286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모델 전체에서 </a:t>
            </a:r>
            <a:r>
              <a:rPr lang="en-US" sz="73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유량(Flow Rate)</a:t>
            </a:r>
            <a:r>
              <a:rPr lang="en-US" sz="7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이상 탐지에 가장 결정적인 역할을 수행하며, 압력과 전류가 그 뒤를 잇는 것을 확인했습니다.</a:t>
            </a:r>
            <a:endParaRPr lang="en-US" sz="780" dirty="0"/>
          </a:p>
        </p:txBody>
      </p:sp>
      <p:sp>
        <p:nvSpPr>
          <p:cNvPr id="10" name="Shape 5"/>
          <p:cNvSpPr/>
          <p:nvPr/>
        </p:nvSpPr>
        <p:spPr>
          <a:xfrm>
            <a:off x="4714875" y="1023342"/>
            <a:ext cx="3714750" cy="342185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6"/>
          <p:cNvSpPr/>
          <p:nvPr/>
        </p:nvSpPr>
        <p:spPr>
          <a:xfrm>
            <a:off x="4714875" y="1023342"/>
            <a:ext cx="3714750" cy="2857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1262658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43500" y="1237655"/>
            <a:ext cx="294498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개별 이상 탐지 사례 분석 (Local Explanation)</a:t>
            </a:r>
            <a:endParaRPr lang="en-US" sz="987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1609130"/>
            <a:ext cx="3286125" cy="20002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29188" y="3973711"/>
            <a:ext cx="1250212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특정 막힘 사례 분석 결과,</a:t>
            </a:r>
            <a:endParaRPr lang="en-US" sz="780" dirty="0"/>
          </a:p>
        </p:txBody>
      </p:sp>
      <p:sp>
        <p:nvSpPr>
          <p:cNvPr id="16" name="Shape 9"/>
          <p:cNvSpPr/>
          <p:nvPr/>
        </p:nvSpPr>
        <p:spPr>
          <a:xfrm>
            <a:off x="6179400" y="3937992"/>
            <a:ext cx="581462" cy="20571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Text 10"/>
          <p:cNvSpPr/>
          <p:nvPr/>
        </p:nvSpPr>
        <p:spPr>
          <a:xfrm>
            <a:off x="6179400" y="3937992"/>
            <a:ext cx="581462" cy="20571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Rate</a:t>
            </a:r>
            <a:endParaRPr lang="en-US" sz="634" dirty="0"/>
          </a:p>
        </p:txBody>
      </p:sp>
      <p:sp>
        <p:nvSpPr>
          <p:cNvPr id="18" name="Text 11"/>
          <p:cNvSpPr/>
          <p:nvPr/>
        </p:nvSpPr>
        <p:spPr>
          <a:xfrm>
            <a:off x="6818012" y="3973711"/>
            <a:ext cx="129781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 급격한 감소가 이상 점수</a:t>
            </a:r>
            <a:endParaRPr lang="en-US" sz="780" dirty="0"/>
          </a:p>
        </p:txBody>
      </p:sp>
      <p:sp>
        <p:nvSpPr>
          <p:cNvPr id="19" name="Text 12"/>
          <p:cNvSpPr/>
          <p:nvPr/>
        </p:nvSpPr>
        <p:spPr>
          <a:xfrm>
            <a:off x="4929188" y="4168713"/>
            <a:ext cx="351244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상승의</a:t>
            </a:r>
            <a:endParaRPr lang="en-US" sz="780" dirty="0"/>
          </a:p>
        </p:txBody>
      </p:sp>
      <p:sp>
        <p:nvSpPr>
          <p:cNvPr id="20" name="Text 13"/>
          <p:cNvSpPr/>
          <p:nvPr/>
        </p:nvSpPr>
        <p:spPr>
          <a:xfrm>
            <a:off x="5280431" y="4168713"/>
            <a:ext cx="565724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72% 기여도</a:t>
            </a:r>
            <a:endParaRPr lang="en-US" sz="734" dirty="0"/>
          </a:p>
        </p:txBody>
      </p:sp>
      <p:sp>
        <p:nvSpPr>
          <p:cNvPr id="21" name="Text 14"/>
          <p:cNvSpPr/>
          <p:nvPr/>
        </p:nvSpPr>
        <p:spPr>
          <a:xfrm>
            <a:off x="5846155" y="4168713"/>
            <a:ext cx="1833600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차지함을 정량적으로 입증했습니다.</a:t>
            </a:r>
            <a:endParaRPr lang="en-US" sz="780" dirty="0"/>
          </a:p>
        </p:txBody>
      </p:sp>
      <p:sp>
        <p:nvSpPr>
          <p:cNvPr id="22" name="직사각형 21"/>
          <p:cNvSpPr/>
          <p:nvPr/>
        </p:nvSpPr>
        <p:spPr>
          <a:xfrm>
            <a:off x="718457" y="449035"/>
            <a:ext cx="45719" cy="236765"/>
          </a:xfrm>
          <a:prstGeom prst="rect">
            <a:avLst/>
          </a:prstGeom>
          <a:solidFill>
            <a:srgbClr val="F59E0B"/>
          </a:solidFill>
          <a:ln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000250"/>
            <a:ext cx="9144000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1"/>
          <p:cNvSpPr/>
          <p:nvPr/>
        </p:nvSpPr>
        <p:spPr>
          <a:xfrm>
            <a:off x="3848835" y="1857375"/>
            <a:ext cx="1446330" cy="1428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300"/>
              </a:lnSpc>
              <a:buNone/>
            </a:pPr>
            <a:r>
              <a:rPr lang="en-US" sz="10363" b="1" kern="0" spc="-8" dirty="0">
                <a:solidFill>
                  <a:srgbClr val="FFFFFF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363" dirty="0"/>
          </a:p>
        </p:txBody>
      </p:sp>
      <p:sp>
        <p:nvSpPr>
          <p:cNvPr id="5" name="Text 2"/>
          <p:cNvSpPr/>
          <p:nvPr/>
        </p:nvSpPr>
        <p:spPr>
          <a:xfrm>
            <a:off x="2366925" y="1907381"/>
            <a:ext cx="4410149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kern="0" spc="5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04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2366925" y="2246709"/>
            <a:ext cx="4410149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kern="0" spc="-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서비스 및 결과물 소개</a:t>
            </a:r>
            <a:endParaRPr lang="en-US" sz="329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통합 대시보드 UI/UX 레이아웃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273373"/>
            <a:ext cx="144661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30473" y="1251942"/>
            <a:ext cx="971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 상태 요약</a:t>
            </a:r>
            <a:endParaRPr lang="en-US" sz="885" dirty="0"/>
          </a:p>
        </p:txBody>
      </p:sp>
      <p:sp>
        <p:nvSpPr>
          <p:cNvPr id="6" name="Text 2"/>
          <p:cNvSpPr/>
          <p:nvPr/>
        </p:nvSpPr>
        <p:spPr>
          <a:xfrm>
            <a:off x="714375" y="1494830"/>
            <a:ext cx="231278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유량, 압력, 전류 등 핵심 물리 지표의 현재 값을 1초 단위로 갱신하여 직관적으로 가시화합니다.</a:t>
            </a:r>
            <a:endParaRPr lang="en-US" sz="727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172035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4400" y="2150604"/>
            <a:ext cx="8072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위험도 트렌드</a:t>
            </a:r>
            <a:endParaRPr lang="en-US" sz="885" dirty="0"/>
          </a:p>
        </p:txBody>
      </p:sp>
      <p:sp>
        <p:nvSpPr>
          <p:cNvPr id="9" name="Text 4"/>
          <p:cNvSpPr/>
          <p:nvPr/>
        </p:nvSpPr>
        <p:spPr>
          <a:xfrm>
            <a:off x="714375" y="2393491"/>
            <a:ext cx="231278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모델이 산출한 이상 점수(Anomaly Score)를 시계열 차트로 제공하여 진행 상황을 모니터링합니다.</a:t>
            </a:r>
            <a:endParaRPr lang="en-US" sz="727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3070696"/>
            <a:ext cx="128588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3049265"/>
            <a:ext cx="8072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구역별 현황판</a:t>
            </a:r>
            <a:endParaRPr lang="en-US" sz="885" dirty="0"/>
          </a:p>
        </p:txBody>
      </p:sp>
      <p:sp>
        <p:nvSpPr>
          <p:cNvPr id="12" name="Text 6"/>
          <p:cNvSpPr/>
          <p:nvPr/>
        </p:nvSpPr>
        <p:spPr>
          <a:xfrm>
            <a:off x="714375" y="3292153"/>
            <a:ext cx="231278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스마트팜 내 모든 펌프의 가동 상태와 이상 유무를 신호등 체계(정상/주의/위험)로 표시합니다.</a:t>
            </a:r>
            <a:endParaRPr lang="en-US" sz="727" dirty="0"/>
          </a:p>
        </p:txBody>
      </p:sp>
      <p:sp>
        <p:nvSpPr>
          <p:cNvPr id="13" name="Shape 7"/>
          <p:cNvSpPr/>
          <p:nvPr/>
        </p:nvSpPr>
        <p:spPr>
          <a:xfrm>
            <a:off x="3312914" y="1094780"/>
            <a:ext cx="5116711" cy="3429000"/>
          </a:xfrm>
          <a:prstGeom prst="rect">
            <a:avLst/>
          </a:prstGeom>
          <a:solidFill>
            <a:srgbClr val="F8FAFC"/>
          </a:solidFill>
          <a:ln w="18288">
            <a:solidFill>
              <a:srgbClr val="CBD5E0"/>
            </a:solidFill>
            <a:prstDash val="dash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9984" y="2235994"/>
            <a:ext cx="571500" cy="5715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26375" y="3009305"/>
            <a:ext cx="26987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통합 대시보드 UI 캡쳐본 삽입 예정 공간 ]</a:t>
            </a:r>
            <a:endParaRPr lang="en-US" sz="987" dirty="0"/>
          </a:p>
        </p:txBody>
      </p:sp>
      <p:sp>
        <p:nvSpPr>
          <p:cNvPr id="16" name="Text 9"/>
          <p:cNvSpPr/>
          <p:nvPr/>
        </p:nvSpPr>
        <p:spPr>
          <a:xfrm>
            <a:off x="5122878" y="3273623"/>
            <a:ext cx="15057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(레이아웃 구성도 및 UI 설명 포함)</a:t>
            </a:r>
            <a:endParaRPr lang="en-US" sz="72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1"/>
          <p:cNvSpPr/>
          <p:nvPr/>
        </p:nvSpPr>
        <p:spPr>
          <a:xfrm rot="10800000">
            <a:off x="100013" y="547222"/>
            <a:ext cx="657225" cy="4049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145" b="1" kern="0" spc="8" dirty="0">
                <a:solidFill>
                  <a:srgbClr val="FFFFFF">
                    <a:alpha val="3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05</a:t>
            </a:r>
            <a:endParaRPr lang="en-US" sz="4145" dirty="0"/>
          </a:p>
        </p:txBody>
      </p:sp>
      <p:sp>
        <p:nvSpPr>
          <p:cNvPr id="5" name="Text 2"/>
          <p:cNvSpPr/>
          <p:nvPr/>
        </p:nvSpPr>
        <p:spPr>
          <a:xfrm>
            <a:off x="1571625" y="1956327"/>
            <a:ext cx="384021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5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INTEGRATION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1571625" y="2295655"/>
            <a:ext cx="3840212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-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최종 아키텍처 소개</a:t>
            </a:r>
            <a:endParaRPr lang="en-US" sz="329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통합 시스템 아키텍처 및 데이터 파이프라인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4375" y="1023342"/>
            <a:ext cx="1285875" cy="100012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872" y="1415355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3451" y="1658243"/>
            <a:ext cx="8876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LAYER</a:t>
            </a:r>
            <a:endParaRPr lang="en-US" sz="683" dirty="0"/>
          </a:p>
        </p:txBody>
      </p:sp>
      <p:sp>
        <p:nvSpPr>
          <p:cNvPr id="7" name="Shape 3"/>
          <p:cNvSpPr/>
          <p:nvPr/>
        </p:nvSpPr>
        <p:spPr>
          <a:xfrm>
            <a:off x="2143125" y="1023342"/>
            <a:ext cx="6286500" cy="10001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4"/>
          <p:cNvSpPr/>
          <p:nvPr/>
        </p:nvSpPr>
        <p:spPr>
          <a:xfrm>
            <a:off x="2143125" y="1023342"/>
            <a:ext cx="6286500" cy="2857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844" y="1368028"/>
            <a:ext cx="200025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43125" y="1675209"/>
            <a:ext cx="2095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 대시보드</a:t>
            </a:r>
            <a:endParaRPr lang="en-US" sz="784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8836" y="1368028"/>
            <a:ext cx="175022" cy="2000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238616" y="1675209"/>
            <a:ext cx="2095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예지보전 알람</a:t>
            </a:r>
            <a:endParaRPr lang="en-US" sz="784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6828" y="1368028"/>
            <a:ext cx="150019" cy="2000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34106" y="1675209"/>
            <a:ext cx="2095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운영 리포트</a:t>
            </a:r>
            <a:endParaRPr lang="en-US" sz="784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8422" y="2207419"/>
            <a:ext cx="107156" cy="142875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714375" y="2159198"/>
            <a:ext cx="1285875" cy="100012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1588" y="2551212"/>
            <a:ext cx="171450" cy="1714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880272" y="2794099"/>
            <a:ext cx="95408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LAYER</a:t>
            </a:r>
            <a:endParaRPr lang="en-US" sz="683" dirty="0"/>
          </a:p>
        </p:txBody>
      </p:sp>
      <p:sp>
        <p:nvSpPr>
          <p:cNvPr id="19" name="Shape 10"/>
          <p:cNvSpPr/>
          <p:nvPr/>
        </p:nvSpPr>
        <p:spPr>
          <a:xfrm>
            <a:off x="2143125" y="2159198"/>
            <a:ext cx="6286500" cy="10001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Shape 11"/>
          <p:cNvSpPr/>
          <p:nvPr/>
        </p:nvSpPr>
        <p:spPr>
          <a:xfrm>
            <a:off x="2143125" y="2159198"/>
            <a:ext cx="6286500" cy="2857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65841" y="2503884"/>
            <a:ext cx="250031" cy="200025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2143125" y="2811066"/>
            <a:ext cx="2095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전처리 엔진</a:t>
            </a:r>
            <a:endParaRPr lang="en-US" sz="784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6335" y="2503884"/>
            <a:ext cx="200025" cy="200025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4238616" y="2811066"/>
            <a:ext cx="2095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Autoencoder AI 모델</a:t>
            </a:r>
            <a:endParaRPr lang="en-US" sz="784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1825" y="2503884"/>
            <a:ext cx="200025" cy="200025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334106" y="2811066"/>
            <a:ext cx="2095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XAI 분석 모듈</a:t>
            </a:r>
            <a:endParaRPr lang="en-US" sz="784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8422" y="3693319"/>
            <a:ext cx="107156" cy="142875"/>
          </a:xfrm>
          <a:prstGeom prst="rect">
            <a:avLst/>
          </a:prstGeom>
        </p:spPr>
      </p:pic>
      <p:sp>
        <p:nvSpPr>
          <p:cNvPr id="28" name="Shape 15"/>
          <p:cNvSpPr/>
          <p:nvPr/>
        </p:nvSpPr>
        <p:spPr>
          <a:xfrm>
            <a:off x="714375" y="3303984"/>
            <a:ext cx="1285875" cy="1000125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2303" y="3695998"/>
            <a:ext cx="150019" cy="17145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1013185" y="3938885"/>
            <a:ext cx="6882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LAYER</a:t>
            </a:r>
            <a:endParaRPr lang="en-US" sz="683" dirty="0"/>
          </a:p>
        </p:txBody>
      </p:sp>
      <p:sp>
        <p:nvSpPr>
          <p:cNvPr id="31" name="Shape 17"/>
          <p:cNvSpPr/>
          <p:nvPr/>
        </p:nvSpPr>
        <p:spPr>
          <a:xfrm>
            <a:off x="2143125" y="3303984"/>
            <a:ext cx="6286500" cy="10001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Shape 18"/>
          <p:cNvSpPr/>
          <p:nvPr/>
        </p:nvSpPr>
        <p:spPr>
          <a:xfrm>
            <a:off x="2143125" y="3303984"/>
            <a:ext cx="6286500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19"/>
          <p:cNvSpPr/>
          <p:nvPr/>
        </p:nvSpPr>
        <p:spPr>
          <a:xfrm>
            <a:off x="2143125" y="3955852"/>
            <a:ext cx="2095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센서 허브</a:t>
            </a:r>
            <a:endParaRPr lang="en-US" sz="784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6335" y="3648670"/>
            <a:ext cx="200025" cy="200025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4238616" y="3955852"/>
            <a:ext cx="2095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실시간 데이터베이스</a:t>
            </a:r>
            <a:endParaRPr lang="en-US" sz="784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56822" y="3648670"/>
            <a:ext cx="250031" cy="200025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6334106" y="3955852"/>
            <a:ext cx="2095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클라우드 게이트웨이</a:t>
            </a:r>
            <a:endParaRPr lang="en-US" sz="784" dirty="0"/>
          </a:p>
        </p:txBody>
      </p:sp>
      <p:sp>
        <p:nvSpPr>
          <p:cNvPr id="38" name="Shape 2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23"/>
          <p:cNvSpPr/>
          <p:nvPr/>
        </p:nvSpPr>
        <p:spPr>
          <a:xfrm>
            <a:off x="0" y="4572000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24"/>
          <p:cNvSpPr/>
          <p:nvPr/>
        </p:nvSpPr>
        <p:spPr>
          <a:xfrm>
            <a:off x="0" y="4750594"/>
            <a:ext cx="9144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"센서부터 서비스까지 </a:t>
            </a: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엔드투엔드(End-to-End) 데이터 파이프라인</a:t>
            </a:r>
            <a:r>
              <a:rPr lang="en-US" sz="942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통해 실시간 예지보전을 실현합니다."</a:t>
            </a:r>
            <a:endParaRPr lang="en-US" sz="942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4" name="Text 1"/>
          <p:cNvSpPr/>
          <p:nvPr/>
        </p:nvSpPr>
        <p:spPr>
          <a:xfrm>
            <a:off x="622483" y="1996678"/>
            <a:ext cx="1041006" cy="11501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500"/>
              </a:lnSpc>
              <a:buNone/>
            </a:pPr>
            <a:r>
              <a:rPr lang="en-US" sz="7254" b="1" kern="0" spc="-4" dirty="0">
                <a:solidFill>
                  <a:srgbClr val="FFFFFF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254" dirty="0"/>
          </a:p>
        </p:txBody>
      </p:sp>
      <p:sp>
        <p:nvSpPr>
          <p:cNvPr id="5" name="Text 2"/>
          <p:cNvSpPr/>
          <p:nvPr/>
        </p:nvSpPr>
        <p:spPr>
          <a:xfrm>
            <a:off x="3000375" y="1970615"/>
            <a:ext cx="254005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3" dirty="0">
                <a:solidFill>
                  <a:srgbClr val="DB2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06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3000375" y="2281368"/>
            <a:ext cx="2540050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결론 및 회고</a:t>
            </a:r>
            <a:endParaRPr lang="en-US" sz="329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428625"/>
            <a:ext cx="8429625" cy="308967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프로젝트 결론 및 기대효과 요약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14375" y="1023342"/>
            <a:ext cx="3464719" cy="10001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2"/>
          <p:cNvSpPr/>
          <p:nvPr/>
        </p:nvSpPr>
        <p:spPr>
          <a:xfrm>
            <a:off x="714375" y="1023342"/>
            <a:ext cx="3464719" cy="2857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9" y="1223367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2994" y="1201936"/>
            <a:ext cx="6786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기술적 성과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892969" y="1459111"/>
            <a:ext cx="31075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Autoencoder 기반 비지도 학습을 통해 F1-Score 0.945를 달성하며, 물리 데이터 기반 예지보전의 실효성을 입증했습니다.</a:t>
            </a:r>
            <a:endParaRPr lang="en-US" sz="727" dirty="0"/>
          </a:p>
        </p:txBody>
      </p:sp>
      <p:sp>
        <p:nvSpPr>
          <p:cNvPr id="9" name="Shape 5"/>
          <p:cNvSpPr/>
          <p:nvPr/>
        </p:nvSpPr>
        <p:spPr>
          <a:xfrm>
            <a:off x="714375" y="2166342"/>
            <a:ext cx="3464719" cy="10001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6"/>
          <p:cNvSpPr/>
          <p:nvPr/>
        </p:nvSpPr>
        <p:spPr>
          <a:xfrm>
            <a:off x="714375" y="2166342"/>
            <a:ext cx="3464719" cy="2857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969" y="2366367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2994" y="2344936"/>
            <a:ext cx="6786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경제적 가치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892969" y="2602111"/>
            <a:ext cx="31075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선제적 정비를 통해 연간 유지보수 비용의 약 20% 절감이 기대되며, 작물 폐사 리스크를 획기적으로 낮췄습니다.</a:t>
            </a:r>
            <a:endParaRPr lang="en-US" sz="727" dirty="0"/>
          </a:p>
        </p:txBody>
      </p:sp>
      <p:sp>
        <p:nvSpPr>
          <p:cNvPr id="14" name="Shape 9"/>
          <p:cNvSpPr/>
          <p:nvPr/>
        </p:nvSpPr>
        <p:spPr>
          <a:xfrm>
            <a:off x="714375" y="3309342"/>
            <a:ext cx="3464719" cy="10001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0"/>
          <p:cNvSpPr/>
          <p:nvPr/>
        </p:nvSpPr>
        <p:spPr>
          <a:xfrm>
            <a:off x="714375" y="3309342"/>
            <a:ext cx="3464719" cy="28575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969" y="3509367"/>
            <a:ext cx="144661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09067" y="3487936"/>
            <a:ext cx="6786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운영 효율화</a:t>
            </a:r>
            <a:endParaRPr lang="en-US" sz="885" dirty="0"/>
          </a:p>
        </p:txBody>
      </p:sp>
      <p:sp>
        <p:nvSpPr>
          <p:cNvPr id="18" name="Text 12"/>
          <p:cNvSpPr/>
          <p:nvPr/>
        </p:nvSpPr>
        <p:spPr>
          <a:xfrm>
            <a:off x="892969" y="3745111"/>
            <a:ext cx="31075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기반의 의사결정 체계를 구축하여 관리자의 업무 부하를 줄이고 스마트팜 가동률을 극대화했습니다.</a:t>
            </a:r>
            <a:endParaRPr lang="en-US" sz="727" dirty="0"/>
          </a:p>
        </p:txBody>
      </p:sp>
      <p:sp>
        <p:nvSpPr>
          <p:cNvPr id="19" name="Shape 13"/>
          <p:cNvSpPr/>
          <p:nvPr/>
        </p:nvSpPr>
        <p:spPr>
          <a:xfrm>
            <a:off x="4536281" y="1023342"/>
            <a:ext cx="3893344" cy="3387923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Shape 14"/>
          <p:cNvSpPr/>
          <p:nvPr/>
        </p:nvSpPr>
        <p:spPr>
          <a:xfrm>
            <a:off x="4536281" y="1023342"/>
            <a:ext cx="3893344" cy="2857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594" y="1262658"/>
            <a:ext cx="142875" cy="1428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64906" y="1237655"/>
            <a:ext cx="12223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향후 고도화 로드맵</a:t>
            </a:r>
            <a:endParaRPr lang="en-US" sz="987" dirty="0"/>
          </a:p>
        </p:txBody>
      </p:sp>
      <p:sp>
        <p:nvSpPr>
          <p:cNvPr id="23" name="Shape 16"/>
          <p:cNvSpPr/>
          <p:nvPr/>
        </p:nvSpPr>
        <p:spPr>
          <a:xfrm>
            <a:off x="4786313" y="1716286"/>
            <a:ext cx="14288" cy="2344936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4" name="Shape 17"/>
          <p:cNvSpPr/>
          <p:nvPr/>
        </p:nvSpPr>
        <p:spPr>
          <a:xfrm>
            <a:off x="4750594" y="1680567"/>
            <a:ext cx="85725" cy="8572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18"/>
          <p:cNvSpPr/>
          <p:nvPr/>
        </p:nvSpPr>
        <p:spPr>
          <a:xfrm>
            <a:off x="4964906" y="1644848"/>
            <a:ext cx="3250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01</a:t>
            </a:r>
            <a:endParaRPr lang="en-US" sz="634" dirty="0"/>
          </a:p>
        </p:txBody>
      </p:sp>
      <p:sp>
        <p:nvSpPr>
          <p:cNvPr id="26" name="Text 19"/>
          <p:cNvSpPr/>
          <p:nvPr/>
        </p:nvSpPr>
        <p:spPr>
          <a:xfrm>
            <a:off x="4964906" y="1787723"/>
            <a:ext cx="325040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모델 범용성 확장</a:t>
            </a:r>
            <a:endParaRPr lang="en-US" sz="834" dirty="0"/>
          </a:p>
        </p:txBody>
      </p:sp>
      <p:sp>
        <p:nvSpPr>
          <p:cNvPr id="27" name="Text 20"/>
          <p:cNvSpPr/>
          <p:nvPr/>
        </p:nvSpPr>
        <p:spPr>
          <a:xfrm>
            <a:off x="4964906" y="2007394"/>
            <a:ext cx="32504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다양한 펌프 용량 및 배관 구조에 대응 가능한 전이 학습(Transfer Learning) 모델 개발</a:t>
            </a:r>
            <a:endParaRPr lang="en-US" sz="727" dirty="0"/>
          </a:p>
        </p:txBody>
      </p:sp>
      <p:sp>
        <p:nvSpPr>
          <p:cNvPr id="28" name="Shape 21"/>
          <p:cNvSpPr/>
          <p:nvPr/>
        </p:nvSpPr>
        <p:spPr>
          <a:xfrm>
            <a:off x="4750594" y="2593181"/>
            <a:ext cx="85725" cy="8572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2"/>
          <p:cNvSpPr/>
          <p:nvPr/>
        </p:nvSpPr>
        <p:spPr>
          <a:xfrm>
            <a:off x="4964906" y="2557463"/>
            <a:ext cx="3250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02</a:t>
            </a:r>
            <a:endParaRPr lang="en-US" sz="634" dirty="0"/>
          </a:p>
        </p:txBody>
      </p:sp>
      <p:sp>
        <p:nvSpPr>
          <p:cNvPr id="30" name="Text 23"/>
          <p:cNvSpPr/>
          <p:nvPr/>
        </p:nvSpPr>
        <p:spPr>
          <a:xfrm>
            <a:off x="4964906" y="2700338"/>
            <a:ext cx="325040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엣지 컴퓨팅 도입</a:t>
            </a:r>
            <a:endParaRPr lang="en-US" sz="834" dirty="0"/>
          </a:p>
        </p:txBody>
      </p:sp>
      <p:sp>
        <p:nvSpPr>
          <p:cNvPr id="31" name="Text 24"/>
          <p:cNvSpPr/>
          <p:nvPr/>
        </p:nvSpPr>
        <p:spPr>
          <a:xfrm>
            <a:off x="4964906" y="2920008"/>
            <a:ext cx="32504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현장 게이트웨이 내 AI 추론 엔진 탑재를 통한 초저지연 이상 탐지 및 오프라인 대응 강화</a:t>
            </a:r>
            <a:endParaRPr lang="en-US" sz="727" dirty="0"/>
          </a:p>
        </p:txBody>
      </p:sp>
      <p:sp>
        <p:nvSpPr>
          <p:cNvPr id="32" name="Shape 25"/>
          <p:cNvSpPr/>
          <p:nvPr/>
        </p:nvSpPr>
        <p:spPr>
          <a:xfrm>
            <a:off x="4750594" y="3505795"/>
            <a:ext cx="85725" cy="85725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26"/>
          <p:cNvSpPr/>
          <p:nvPr/>
        </p:nvSpPr>
        <p:spPr>
          <a:xfrm>
            <a:off x="4964906" y="3470077"/>
            <a:ext cx="3250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03</a:t>
            </a:r>
            <a:endParaRPr lang="en-US" sz="634" dirty="0"/>
          </a:p>
        </p:txBody>
      </p:sp>
      <p:sp>
        <p:nvSpPr>
          <p:cNvPr id="34" name="Text 27"/>
          <p:cNvSpPr/>
          <p:nvPr/>
        </p:nvSpPr>
        <p:spPr>
          <a:xfrm>
            <a:off x="4964906" y="3612952"/>
            <a:ext cx="3250406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통합 관제 플랫폼 확산</a:t>
            </a:r>
            <a:endParaRPr lang="en-US" sz="834" dirty="0"/>
          </a:p>
        </p:txBody>
      </p:sp>
      <p:sp>
        <p:nvSpPr>
          <p:cNvPr id="35" name="Text 28"/>
          <p:cNvSpPr/>
          <p:nvPr/>
        </p:nvSpPr>
        <p:spPr>
          <a:xfrm>
            <a:off x="4964906" y="3832622"/>
            <a:ext cx="32504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클라우드 기반 멀티 팜(Multi-farm) 통합 관리 시스템 구축 및 서비스 상용화 추진</a:t>
            </a:r>
            <a:endParaRPr lang="en-US" sz="727" dirty="0"/>
          </a:p>
        </p:txBody>
      </p:sp>
      <p:sp>
        <p:nvSpPr>
          <p:cNvPr id="36" name="Shape 2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Shape 30"/>
          <p:cNvSpPr/>
          <p:nvPr/>
        </p:nvSpPr>
        <p:spPr>
          <a:xfrm>
            <a:off x="0" y="4572000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1"/>
          <p:cNvSpPr/>
          <p:nvPr/>
        </p:nvSpPr>
        <p:spPr>
          <a:xfrm>
            <a:off x="0" y="4750594"/>
            <a:ext cx="9144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"데이터로 여는 스마트팜의 미래, Smart-Flow AI가 함께합니다."</a:t>
            </a:r>
            <a:endParaRPr lang="en-US" sz="88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05041" y="1583234"/>
            <a:ext cx="3933890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145" b="1" kern="0" spc="-2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145" dirty="0"/>
          </a:p>
        </p:txBody>
      </p:sp>
      <p:sp>
        <p:nvSpPr>
          <p:cNvPr id="4" name="Text 1"/>
          <p:cNvSpPr/>
          <p:nvPr/>
        </p:nvSpPr>
        <p:spPr>
          <a:xfrm>
            <a:off x="2605041" y="2383334"/>
            <a:ext cx="3933890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스마트팜 양액펌프 막힘 사전 감지 AI 시스템</a:t>
            </a:r>
            <a:endParaRPr lang="en-US" sz="1397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343" y="3378101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20812" y="3367385"/>
            <a:ext cx="102384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질의응답 (Q&amp;A)</a:t>
            </a:r>
            <a:endParaRPr lang="en-US" sz="987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5737" y="4591645"/>
            <a:ext cx="114300" cy="114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57187" y="4582716"/>
            <a:ext cx="129123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contact@sfai-project.com</a:t>
            </a:r>
            <a:endParaRPr lang="en-US" sz="834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733" y="4591645"/>
            <a:ext cx="114300" cy="1143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934183" y="4582716"/>
            <a:ext cx="112408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www.sfai-smartfarm.io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1460</Words>
  <Application>Microsoft Office PowerPoint</Application>
  <PresentationFormat>화면 슬라이드 쇼(16:9)</PresentationFormat>
  <Paragraphs>282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Inter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dabin Kim</cp:lastModifiedBy>
  <cp:revision>8</cp:revision>
  <dcterms:created xsi:type="dcterms:W3CDTF">2026-04-16T06:12:53Z</dcterms:created>
  <dcterms:modified xsi:type="dcterms:W3CDTF">2026-04-16T07:26:57Z</dcterms:modified>
</cp:coreProperties>
</file>