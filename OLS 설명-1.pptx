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3" d="100"/>
          <a:sy n="103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9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3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14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2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5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4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9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1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26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D90DC-354E-AE40-A2ED-9820071605D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E575-E6BE-5E47-AA40-0054F5FE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8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89C4-0024-FB29-5F37-2800CBF26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ko-KR" sz="4000" b="1" dirty="0">
                <a:latin typeface="+mj-ea"/>
              </a:rPr>
              <a:t>OLS (Ordinary Least Squares) Basics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A4292-6A50-8390-6B6A-41089CBF4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spc="-180" dirty="0">
                <a:ln>
                  <a:solidFill>
                    <a:srgbClr val="E4E9EC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Yongwoo Jeong</a:t>
            </a:r>
          </a:p>
          <a:p>
            <a:r>
              <a:rPr lang="en-US" altLang="ko-KR" sz="2000" b="1" spc="-180">
                <a:ln>
                  <a:solidFill>
                    <a:srgbClr val="E4E9EC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April 16</a:t>
            </a:r>
            <a:r>
              <a:rPr lang="en-US" altLang="ko-KR" sz="2000" b="1" spc="-180" baseline="30000">
                <a:ln>
                  <a:solidFill>
                    <a:srgbClr val="E4E9EC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th</a:t>
            </a:r>
            <a:r>
              <a:rPr lang="en-US" altLang="ko-KR" sz="2000" b="1" spc="-180" dirty="0">
                <a:ln>
                  <a:solidFill>
                    <a:srgbClr val="E4E9EC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2026</a:t>
            </a:r>
            <a:endParaRPr lang="en-US" altLang="ko-KR" sz="2000" spc="-180" dirty="0">
              <a:ln>
                <a:solidFill>
                  <a:srgbClr val="E4E9EC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317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6E02-1306-59CD-C90A-8FD824C9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C1420-5EB5-CEDF-CACD-B430106BA2A1}"/>
              </a:ext>
            </a:extLst>
          </p:cNvPr>
          <p:cNvSpPr txBox="1"/>
          <p:nvPr/>
        </p:nvSpPr>
        <p:spPr>
          <a:xfrm>
            <a:off x="1819274" y="1543566"/>
            <a:ext cx="5372101" cy="3170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데이터 별 분석 방법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OLS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소개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OLS vs. ANOVA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방법론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사용법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35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4EC4B85-85A3-1770-50D5-ADAF1B16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3" y="303762"/>
            <a:ext cx="5400600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+mn-ea"/>
                <a:ea typeface="+mn-ea"/>
              </a:rPr>
              <a:t>1. </a:t>
            </a:r>
            <a:r>
              <a:rPr lang="ko-KR" altLang="en-US" sz="2400" b="1" dirty="0">
                <a:latin typeface="+mn-ea"/>
                <a:ea typeface="+mn-ea"/>
              </a:rPr>
              <a:t>데이터 별 분석 방법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9E367F6-5360-C2FF-1644-5BE5C62CE977}"/>
              </a:ext>
            </a:extLst>
          </p:cNvPr>
          <p:cNvSpPr txBox="1">
            <a:spLocks/>
          </p:cNvSpPr>
          <p:nvPr/>
        </p:nvSpPr>
        <p:spPr>
          <a:xfrm>
            <a:off x="294316" y="758735"/>
            <a:ext cx="9359900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 panose="020F0502020204030204"/>
                <a:ea typeface="맑은 고딕" pitchFamily="50" charset="-127"/>
                <a:cs typeface="Arial" panose="020B0604020202020204" pitchFamily="34" charset="0"/>
              </a:rPr>
              <a:t>추정하고 싶은 데이터 타입에 따라서 다음과 같이 분류해서 사용한다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 panose="020F0502020204030204"/>
                <a:ea typeface="맑은 고딕" pitchFamily="50" charset="-127"/>
                <a:cs typeface="Arial" panose="020B0604020202020204" pitchFamily="34" charset="0"/>
              </a:rPr>
              <a:t>.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ysClr val="windowText" lastClr="000000">
                    <a:alpha val="5000"/>
                  </a:sysClr>
                </a:solidFill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Calibri" panose="020F0502020204030204"/>
              <a:ea typeface="맑은 고딕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8" name="표 3">
            <a:extLst>
              <a:ext uri="{FF2B5EF4-FFF2-40B4-BE49-F238E27FC236}">
                <a16:creationId xmlns:a16="http://schemas.microsoft.com/office/drawing/2014/main" id="{30FF55B0-0EF3-E343-762C-54F6888B7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439922"/>
              </p:ext>
            </p:extLst>
          </p:nvPr>
        </p:nvGraphicFramePr>
        <p:xfrm>
          <a:off x="714896" y="1227665"/>
          <a:ext cx="10906490" cy="4077982"/>
        </p:xfrm>
        <a:graphic>
          <a:graphicData uri="http://schemas.openxmlformats.org/drawingml/2006/table">
            <a:tbl>
              <a:tblPr firstRow="1" bandRow="1"/>
              <a:tblGrid>
                <a:gridCol w="3419738">
                  <a:extLst>
                    <a:ext uri="{9D8B030D-6E8A-4147-A177-3AD203B41FA5}">
                      <a16:colId xmlns:a16="http://schemas.microsoft.com/office/drawing/2014/main" val="450560694"/>
                    </a:ext>
                  </a:extLst>
                </a:gridCol>
                <a:gridCol w="3851255">
                  <a:extLst>
                    <a:ext uri="{9D8B030D-6E8A-4147-A177-3AD203B41FA5}">
                      <a16:colId xmlns:a16="http://schemas.microsoft.com/office/drawing/2014/main" val="3957695041"/>
                    </a:ext>
                  </a:extLst>
                </a:gridCol>
                <a:gridCol w="3635497">
                  <a:extLst>
                    <a:ext uri="{9D8B030D-6E8A-4147-A177-3AD203B41FA5}">
                      <a16:colId xmlns:a16="http://schemas.microsoft.com/office/drawing/2014/main" val="826384991"/>
                    </a:ext>
                  </a:extLst>
                </a:gridCol>
              </a:tblGrid>
              <a:tr h="5965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추정하고 싶은 데이터 타입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분석의 방법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Example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78451"/>
                  </a:ext>
                </a:extLst>
              </a:tr>
              <a:tr h="833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연속적인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float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데이터 </a:t>
                      </a:r>
                      <a:br>
                        <a:rPr lang="en-US" altLang="ko-KR" sz="1400" b="1" dirty="0">
                          <a:latin typeface="+mn-ea"/>
                          <a:ea typeface="+mn-ea"/>
                        </a:rPr>
                      </a:b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dirty="0" err="1">
                          <a:latin typeface="+mn-ea"/>
                          <a:ea typeface="+mn-ea"/>
                        </a:rPr>
                        <a:t>시계열이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 아닐 수도 있음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OLS (Ordinary Least Squares)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특정 제품의 판매 가격을 </a:t>
                      </a:r>
                      <a:br>
                        <a:rPr lang="en-US" altLang="ko-KR" sz="14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결정짓는 입력 변수 찾기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42272"/>
                  </a:ext>
                </a:extLst>
              </a:tr>
              <a:tr h="13239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sz="1400" dirty="0"/>
                        <a:t>"</a:t>
                      </a:r>
                      <a:r>
                        <a:rPr lang="en-US" sz="1400" b="1" dirty="0"/>
                        <a:t>Y</a:t>
                      </a:r>
                      <a:r>
                        <a:rPr lang="ko-KR" altLang="en-US" sz="1400" b="1" dirty="0"/>
                        <a:t>가 </a:t>
                      </a:r>
                      <a:r>
                        <a:rPr lang="ko-KR" altLang="en-US" sz="1400" b="1" dirty="0" err="1"/>
                        <a:t>연속형</a:t>
                      </a:r>
                      <a:r>
                        <a:rPr lang="ko-KR" altLang="en-US" sz="1400" dirty="0" err="1"/>
                        <a:t>이고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sz="1400" b="1" dirty="0"/>
                        <a:t>X</a:t>
                      </a:r>
                      <a:r>
                        <a:rPr lang="ko-KR" altLang="en-US" sz="1400" b="1" dirty="0"/>
                        <a:t>가 </a:t>
                      </a:r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개 이상의 범주</a:t>
                      </a:r>
                      <a:r>
                        <a:rPr lang="en-US" altLang="ko-KR" sz="1400" b="1" dirty="0"/>
                        <a:t>”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ANOVA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en-US" altLang="ko-KR" sz="1400" b="1" baseline="0" dirty="0" err="1">
                          <a:latin typeface="+mn-ea"/>
                          <a:ea typeface="+mn-ea"/>
                        </a:rPr>
                        <a:t>ANalysis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 Of </a:t>
                      </a:r>
                      <a:r>
                        <a:rPr lang="en-US" altLang="ko-KR" sz="1400" b="1" baseline="0" dirty="0" err="1">
                          <a:latin typeface="+mn-ea"/>
                          <a:ea typeface="+mn-ea"/>
                        </a:rPr>
                        <a:t>VAriance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회의실을 사용할 수 있는지 여부를 알기 위해 평균 근무시간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14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다른 팀의 업무 회의 여부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14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외부 손님들의 방문 여부가 주어질 때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885105"/>
                  </a:ext>
                </a:extLst>
              </a:tr>
              <a:tr h="13239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Binary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한 사건의 확률 혹은</a:t>
                      </a:r>
                      <a:endParaRPr lang="en-US" altLang="ko-KR" sz="1400" b="1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특정 사건의 확률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Logistic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 Regression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수능 공부를 몇시간 할 때 </a:t>
                      </a:r>
                      <a:br>
                        <a:rPr lang="en-US" altLang="ko-KR" sz="14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합격할 수 있는지 확률</a:t>
                      </a:r>
                      <a:endParaRPr lang="en-US" altLang="ko-KR" sz="14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4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특정 호수에 특정 물고기를 </a:t>
                      </a:r>
                      <a:br>
                        <a:rPr lang="en-US" altLang="ko-KR" sz="1400" b="0" dirty="0">
                          <a:latin typeface="+mn-ea"/>
                          <a:ea typeface="+mn-ea"/>
                        </a:rPr>
                      </a:b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낚시로 잡을 수 있는지 확률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97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93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6311-88B8-E2A2-C642-45FD7E8A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0C4B9EF-F332-3B29-8EE0-5298FB14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3" y="303762"/>
            <a:ext cx="5400600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+mn-ea"/>
                <a:ea typeface="+mn-ea"/>
              </a:rPr>
              <a:t>1. </a:t>
            </a:r>
            <a:r>
              <a:rPr lang="ko-KR" altLang="en-US" sz="2400" b="1" dirty="0">
                <a:latin typeface="+mn-ea"/>
                <a:ea typeface="+mn-ea"/>
              </a:rPr>
              <a:t>데이터 별 분석 방법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3F9DFF92-3172-C9D3-EE81-DD955E27EF4B}"/>
              </a:ext>
            </a:extLst>
          </p:cNvPr>
          <p:cNvSpPr txBox="1">
            <a:spLocks/>
          </p:cNvSpPr>
          <p:nvPr/>
        </p:nvSpPr>
        <p:spPr>
          <a:xfrm>
            <a:off x="294316" y="758735"/>
            <a:ext cx="9359900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 panose="020F0502020204030204"/>
                <a:ea typeface="맑은 고딕" pitchFamily="50" charset="-127"/>
                <a:cs typeface="Arial" panose="020B0604020202020204" pitchFamily="34" charset="0"/>
              </a:rPr>
              <a:t>추정하고 싶은 데이터 타입에 따라서 다음과 같이 분류해서 사용한다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Calibri" panose="020F0502020204030204"/>
                <a:ea typeface="맑은 고딕" pitchFamily="50" charset="-127"/>
                <a:cs typeface="Arial" panose="020B0604020202020204" pitchFamily="34" charset="0"/>
              </a:rPr>
              <a:t>.</a:t>
            </a:r>
            <a:endParaRPr kumimoji="0" lang="ko-KR" altLang="en-US" sz="1600" b="1" i="0" u="none" strike="noStrike" kern="1200" cap="none" spc="0" normalizeH="0" baseline="0" noProof="0" dirty="0">
              <a:ln w="3175">
                <a:solidFill>
                  <a:sysClr val="windowText" lastClr="000000">
                    <a:alpha val="5000"/>
                  </a:sysClr>
                </a:solidFill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Calibri" panose="020F0502020204030204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789AD-902D-9585-6198-9E63240011C7}"/>
              </a:ext>
            </a:extLst>
          </p:cNvPr>
          <p:cNvSpPr txBox="1"/>
          <p:nvPr/>
        </p:nvSpPr>
        <p:spPr>
          <a:xfrm>
            <a:off x="571500" y="1489410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 (</a:t>
            </a:r>
            <a:r>
              <a:rPr lang="en-US" dirty="0" err="1"/>
              <a:t>연속형</a:t>
            </a:r>
            <a:r>
              <a:rPr lang="en-US" dirty="0"/>
              <a:t>): </a:t>
            </a:r>
            <a:r>
              <a:rPr lang="en-US" dirty="0" err="1"/>
              <a:t>시험</a:t>
            </a:r>
            <a:r>
              <a:rPr lang="en-US" dirty="0"/>
              <a:t> </a:t>
            </a:r>
            <a:r>
              <a:rPr lang="en-US" dirty="0" err="1"/>
              <a:t>점수</a:t>
            </a:r>
            <a:endParaRPr lang="en-US" dirty="0"/>
          </a:p>
          <a:p>
            <a:r>
              <a:rPr lang="en-US" dirty="0"/>
              <a:t>X (</a:t>
            </a:r>
            <a:r>
              <a:rPr lang="en-US" dirty="0" err="1"/>
              <a:t>범주형</a:t>
            </a:r>
            <a:r>
              <a:rPr lang="en-US" dirty="0"/>
              <a:t>): </a:t>
            </a:r>
            <a:r>
              <a:rPr lang="en-US" dirty="0" err="1"/>
              <a:t>학과</a:t>
            </a:r>
            <a:r>
              <a:rPr lang="en-US" dirty="0"/>
              <a:t> [</a:t>
            </a:r>
            <a:r>
              <a:rPr lang="en-US" dirty="0" err="1"/>
              <a:t>경영</a:t>
            </a:r>
            <a:r>
              <a:rPr lang="en-US" dirty="0"/>
              <a:t>, </a:t>
            </a:r>
            <a:r>
              <a:rPr lang="en-US" dirty="0" err="1"/>
              <a:t>공학</a:t>
            </a:r>
            <a:r>
              <a:rPr lang="en-US" dirty="0"/>
              <a:t>, </a:t>
            </a:r>
            <a:r>
              <a:rPr lang="en-US" dirty="0" err="1"/>
              <a:t>인문</a:t>
            </a:r>
            <a:r>
              <a:rPr lang="en-US" dirty="0"/>
              <a:t>]  ← 3</a:t>
            </a:r>
            <a:r>
              <a:rPr lang="en-US" altLang="ko-KR" dirty="0"/>
              <a:t>+</a:t>
            </a:r>
            <a:r>
              <a:rPr lang="en-US" dirty="0"/>
              <a:t>개 </a:t>
            </a:r>
            <a:r>
              <a:rPr lang="en-US" dirty="0" err="1"/>
              <a:t>그룹</a:t>
            </a:r>
            <a:endParaRPr lang="en-US" dirty="0"/>
          </a:p>
          <a:p>
            <a:r>
              <a:rPr lang="en-US" dirty="0"/>
              <a:t>→ ANOVA </a:t>
            </a:r>
            <a:r>
              <a:rPr lang="en-US" dirty="0" err="1"/>
              <a:t>사용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A56A8-6B82-8F5A-216C-B1FCBE0E65B2}"/>
              </a:ext>
            </a:extLst>
          </p:cNvPr>
          <p:cNvSpPr txBox="1"/>
          <p:nvPr/>
        </p:nvSpPr>
        <p:spPr>
          <a:xfrm>
            <a:off x="571500" y="2595195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 (</a:t>
            </a:r>
            <a:r>
              <a:rPr lang="en-US" dirty="0" err="1"/>
              <a:t>범주형</a:t>
            </a:r>
            <a:r>
              <a:rPr lang="en-US" dirty="0"/>
              <a:t>): </a:t>
            </a:r>
            <a:r>
              <a:rPr lang="en-US" dirty="0" err="1"/>
              <a:t>합격</a:t>
            </a:r>
            <a:r>
              <a:rPr lang="en-US" dirty="0"/>
              <a:t> </a:t>
            </a:r>
            <a:r>
              <a:rPr lang="en-US" dirty="0" err="1"/>
              <a:t>여부</a:t>
            </a:r>
            <a:r>
              <a:rPr lang="en-US" dirty="0"/>
              <a:t> [</a:t>
            </a:r>
            <a:r>
              <a:rPr lang="en-US" dirty="0" err="1"/>
              <a:t>합격</a:t>
            </a:r>
            <a:r>
              <a:rPr lang="en-US" dirty="0"/>
              <a:t>, </a:t>
            </a:r>
            <a:r>
              <a:rPr lang="en-US" dirty="0" err="1"/>
              <a:t>불합격</a:t>
            </a:r>
            <a:r>
              <a:rPr lang="en-US" dirty="0"/>
              <a:t>]</a:t>
            </a:r>
          </a:p>
          <a:p>
            <a:r>
              <a:rPr lang="en-US" dirty="0"/>
              <a:t>X (</a:t>
            </a:r>
            <a:r>
              <a:rPr lang="en-US" dirty="0" err="1"/>
              <a:t>범주형</a:t>
            </a:r>
            <a:r>
              <a:rPr lang="en-US" dirty="0"/>
              <a:t>): </a:t>
            </a:r>
            <a:r>
              <a:rPr lang="en-US" dirty="0" err="1"/>
              <a:t>학과</a:t>
            </a:r>
            <a:r>
              <a:rPr lang="en-US" dirty="0"/>
              <a:t> [</a:t>
            </a:r>
            <a:r>
              <a:rPr lang="en-US" dirty="0" err="1"/>
              <a:t>경영</a:t>
            </a:r>
            <a:r>
              <a:rPr lang="en-US" dirty="0"/>
              <a:t>, </a:t>
            </a:r>
            <a:r>
              <a:rPr lang="en-US" dirty="0" err="1"/>
              <a:t>공학</a:t>
            </a:r>
            <a:r>
              <a:rPr lang="en-US" dirty="0"/>
              <a:t>, </a:t>
            </a:r>
            <a:r>
              <a:rPr lang="en-US" dirty="0" err="1"/>
              <a:t>인문</a:t>
            </a:r>
            <a:r>
              <a:rPr lang="en-US" dirty="0"/>
              <a:t>]  ← 3</a:t>
            </a:r>
            <a:r>
              <a:rPr lang="en-US" altLang="ko-KR" dirty="0"/>
              <a:t>+</a:t>
            </a:r>
            <a:r>
              <a:rPr lang="en-US" dirty="0"/>
              <a:t>개 </a:t>
            </a:r>
            <a:r>
              <a:rPr lang="en-US" dirty="0" err="1"/>
              <a:t>그룹</a:t>
            </a:r>
            <a:endParaRPr lang="en-US" dirty="0"/>
          </a:p>
          <a:p>
            <a:r>
              <a:rPr lang="en-US" dirty="0"/>
              <a:t>→ Chi-square test </a:t>
            </a:r>
            <a:r>
              <a:rPr lang="en-US" dirty="0" err="1"/>
              <a:t>또는</a:t>
            </a:r>
            <a:r>
              <a:rPr lang="en-US" dirty="0"/>
              <a:t> Multinomial Logistic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EEEB0-E43B-749E-3401-5340BEF460ED}"/>
              </a:ext>
            </a:extLst>
          </p:cNvPr>
          <p:cNvSpPr txBox="1"/>
          <p:nvPr/>
        </p:nvSpPr>
        <p:spPr>
          <a:xfrm>
            <a:off x="571500" y="3786042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 (</a:t>
            </a:r>
            <a:r>
              <a:rPr lang="en-US" dirty="0" err="1"/>
              <a:t>연속형</a:t>
            </a:r>
            <a:r>
              <a:rPr lang="en-US" dirty="0"/>
              <a:t>): </a:t>
            </a:r>
            <a:r>
              <a:rPr lang="en-US" dirty="0" err="1"/>
              <a:t>매출</a:t>
            </a:r>
            <a:endParaRPr lang="en-US" dirty="0"/>
          </a:p>
          <a:p>
            <a:r>
              <a:rPr lang="en-US" dirty="0"/>
              <a:t>X (</a:t>
            </a:r>
            <a:r>
              <a:rPr lang="en-US" dirty="0" err="1"/>
              <a:t>연속형</a:t>
            </a:r>
            <a:r>
              <a:rPr lang="en-US" dirty="0"/>
              <a:t>): </a:t>
            </a:r>
            <a:r>
              <a:rPr lang="en-US" dirty="0" err="1"/>
              <a:t>광고비</a:t>
            </a:r>
            <a:r>
              <a:rPr lang="en-US" dirty="0"/>
              <a:t>  ← </a:t>
            </a:r>
            <a:r>
              <a:rPr lang="en-US" dirty="0" err="1"/>
              <a:t>범주형이</a:t>
            </a:r>
            <a:r>
              <a:rPr lang="en-US" dirty="0"/>
              <a:t> </a:t>
            </a:r>
            <a:r>
              <a:rPr lang="en-US" dirty="0" err="1"/>
              <a:t>아님</a:t>
            </a:r>
            <a:r>
              <a:rPr lang="en-US" dirty="0"/>
              <a:t>!</a:t>
            </a:r>
          </a:p>
          <a:p>
            <a:r>
              <a:rPr lang="en-US" dirty="0"/>
              <a:t>→ OLS </a:t>
            </a:r>
            <a:r>
              <a:rPr lang="en-US" dirty="0" err="1"/>
              <a:t>회귀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6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19D5F-2AF7-E66F-B3F9-E38F06C0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CFAD2427-7860-ED84-C99D-695EFA25B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3" y="303762"/>
            <a:ext cx="5400600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+mn-ea"/>
                <a:ea typeface="+mn-ea"/>
              </a:rPr>
              <a:t>1. </a:t>
            </a:r>
            <a:r>
              <a:rPr lang="ko-KR" altLang="en-US" sz="2400" b="1" dirty="0">
                <a:latin typeface="+mn-ea"/>
                <a:ea typeface="+mn-ea"/>
              </a:rPr>
              <a:t>데이터 별 분석 방법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50D4B836-78CA-5F74-8FD0-DF85425C44FB}"/>
              </a:ext>
            </a:extLst>
          </p:cNvPr>
          <p:cNvSpPr/>
          <p:nvPr/>
        </p:nvSpPr>
        <p:spPr>
          <a:xfrm>
            <a:off x="654712" y="1073751"/>
            <a:ext cx="10966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ANOVA</a:t>
            </a:r>
            <a:r>
              <a:rPr lang="ko-KR" altLang="en-US" sz="1400" b="1" dirty="0"/>
              <a:t>는 “범주형 독립변수에 따라 연속형 종속변수의 평균이 집단 간에 통계적으로 유의하게 </a:t>
            </a:r>
            <a:r>
              <a:rPr lang="ko-KR" altLang="en-US" sz="1400" b="1" dirty="0" err="1"/>
              <a:t>다른가”를</a:t>
            </a:r>
            <a:r>
              <a:rPr lang="ko-KR" altLang="en-US" sz="1400" b="1" dirty="0"/>
              <a:t> 검정하는 방법이다</a:t>
            </a:r>
            <a:r>
              <a:rPr lang="en-US" altLang="ko-KR" sz="1400" b="1" dirty="0"/>
              <a:t>.</a:t>
            </a:r>
            <a:endParaRPr lang="ko-KR" altLang="en-US" sz="1400" dirty="0"/>
          </a:p>
          <a:p>
            <a:r>
              <a:rPr lang="ko-KR" altLang="en-US" sz="1400" b="1" dirty="0"/>
              <a:t>두 집단이면 </a:t>
            </a:r>
            <a:r>
              <a:rPr lang="en-US" sz="1400" b="1" dirty="0"/>
              <a:t>t-test, </a:t>
            </a:r>
            <a:r>
              <a:rPr lang="ko-KR" altLang="en-US" sz="1400" b="1" dirty="0"/>
              <a:t>세 집단 이상이면 </a:t>
            </a:r>
            <a:r>
              <a:rPr lang="en-US" sz="1400" b="1" dirty="0"/>
              <a:t>ANOVA</a:t>
            </a:r>
            <a:r>
              <a:rPr lang="ko-KR" altLang="en-US" sz="1400" b="1" dirty="0" err="1"/>
              <a:t>를</a:t>
            </a:r>
            <a:r>
              <a:rPr lang="ko-KR" altLang="en-US" sz="1400" b="1" dirty="0"/>
              <a:t> 사용하며</a:t>
            </a:r>
            <a:r>
              <a:rPr lang="en-US" altLang="ko-KR" sz="1400" b="1" dirty="0"/>
              <a:t>, </a:t>
            </a:r>
            <a:r>
              <a:rPr lang="en-US" sz="1400" b="1" dirty="0"/>
              <a:t>dummy </a:t>
            </a:r>
            <a:r>
              <a:rPr lang="ko-KR" altLang="en-US" sz="1400" b="1" dirty="0"/>
              <a:t>변수를 쓴 </a:t>
            </a:r>
            <a:r>
              <a:rPr lang="en-US" sz="1400" b="1" dirty="0"/>
              <a:t>OLS</a:t>
            </a:r>
            <a:r>
              <a:rPr lang="ko-KR" altLang="en-US" sz="1400" b="1" dirty="0"/>
              <a:t>와 수학적으로는 동일한 </a:t>
            </a:r>
            <a:r>
              <a:rPr lang="en-US" sz="1400" b="1" dirty="0"/>
              <a:t>F-test</a:t>
            </a:r>
            <a:r>
              <a:rPr lang="ko-KR" altLang="en-US" sz="1400" b="1" dirty="0"/>
              <a:t>가 된다</a:t>
            </a:r>
            <a:r>
              <a:rPr lang="en-US" altLang="ko-KR" sz="1400" b="1" dirty="0"/>
              <a:t>.</a:t>
            </a:r>
            <a:endParaRPr lang="ko-KR" altLang="en-US" sz="1400" dirty="0"/>
          </a:p>
        </p:txBody>
      </p:sp>
      <p:pic>
        <p:nvPicPr>
          <p:cNvPr id="4" name="Picture 6" descr="Image result for seaborn violin plot">
            <a:extLst>
              <a:ext uri="{FF2B5EF4-FFF2-40B4-BE49-F238E27FC236}">
                <a16:creationId xmlns:a16="http://schemas.microsoft.com/office/drawing/2014/main" id="{70A662F9-B5FF-9BC4-3104-6482778C8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074" y="2460971"/>
            <a:ext cx="4762500" cy="32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seaborn violin plot">
            <a:extLst>
              <a:ext uri="{FF2B5EF4-FFF2-40B4-BE49-F238E27FC236}">
                <a16:creationId xmlns:a16="http://schemas.microsoft.com/office/drawing/2014/main" id="{FD3245D9-6751-C025-12AA-E68C108A2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51" y="2411174"/>
            <a:ext cx="4090112" cy="324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6">
            <a:extLst>
              <a:ext uri="{FF2B5EF4-FFF2-40B4-BE49-F238E27FC236}">
                <a16:creationId xmlns:a16="http://schemas.microsoft.com/office/drawing/2014/main" id="{CEF1627D-35C7-FEA1-2E8E-C14A314479BC}"/>
              </a:ext>
            </a:extLst>
          </p:cNvPr>
          <p:cNvSpPr/>
          <p:nvPr/>
        </p:nvSpPr>
        <p:spPr>
          <a:xfrm>
            <a:off x="1251551" y="2134175"/>
            <a:ext cx="45484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ANOVA</a:t>
            </a:r>
            <a:r>
              <a:rPr lang="ko-KR" altLang="en-US" sz="1200" b="1" dirty="0" err="1"/>
              <a:t>를</a:t>
            </a:r>
            <a:r>
              <a:rPr lang="ko-KR" altLang="en-US" sz="1200" b="1" dirty="0"/>
              <a:t> 적용할 수 있으나 유의미한 평균 차이가 없을 수 있는 예</a:t>
            </a:r>
            <a:endParaRPr lang="ko-KR" altLang="en-US" sz="1200" dirty="0"/>
          </a:p>
        </p:txBody>
      </p:sp>
      <p:sp>
        <p:nvSpPr>
          <p:cNvPr id="7" name="직사각형 9">
            <a:extLst>
              <a:ext uri="{FF2B5EF4-FFF2-40B4-BE49-F238E27FC236}">
                <a16:creationId xmlns:a16="http://schemas.microsoft.com/office/drawing/2014/main" id="{9419FCB2-B13C-1B8E-5979-1A80ABA1FEFA}"/>
              </a:ext>
            </a:extLst>
          </p:cNvPr>
          <p:cNvSpPr/>
          <p:nvPr/>
        </p:nvSpPr>
        <p:spPr>
          <a:xfrm>
            <a:off x="6689881" y="2153195"/>
            <a:ext cx="23977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+mn-ea"/>
              </a:rPr>
              <a:t>ANOVA </a:t>
            </a:r>
            <a:r>
              <a:rPr lang="ko-KR" altLang="en-US" sz="1200" b="1" dirty="0">
                <a:latin typeface="+mn-ea"/>
              </a:rPr>
              <a:t>테스트가 필요 있는 예</a:t>
            </a:r>
            <a:r>
              <a:rPr lang="en-US" altLang="ko-KR" sz="1200" b="1" dirty="0">
                <a:latin typeface="+mn-ea"/>
              </a:rPr>
              <a:t> </a:t>
            </a:r>
            <a:endParaRPr lang="ko-KR" altLang="en-US" sz="1200" b="1" dirty="0"/>
          </a:p>
        </p:txBody>
      </p:sp>
      <p:cxnSp>
        <p:nvCxnSpPr>
          <p:cNvPr id="8" name="직선 연결선 11">
            <a:extLst>
              <a:ext uri="{FF2B5EF4-FFF2-40B4-BE49-F238E27FC236}">
                <a16:creationId xmlns:a16="http://schemas.microsoft.com/office/drawing/2014/main" id="{725FE39D-B1CE-D7F6-D772-A8E6EB444B1A}"/>
              </a:ext>
            </a:extLst>
          </p:cNvPr>
          <p:cNvCxnSpPr/>
          <p:nvPr/>
        </p:nvCxnSpPr>
        <p:spPr>
          <a:xfrm>
            <a:off x="5939177" y="4647990"/>
            <a:ext cx="1645271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4">
            <a:extLst>
              <a:ext uri="{FF2B5EF4-FFF2-40B4-BE49-F238E27FC236}">
                <a16:creationId xmlns:a16="http://schemas.microsoft.com/office/drawing/2014/main" id="{3422861A-9542-0C54-EACC-E45F17A25BA3}"/>
              </a:ext>
            </a:extLst>
          </p:cNvPr>
          <p:cNvCxnSpPr/>
          <p:nvPr/>
        </p:nvCxnSpPr>
        <p:spPr>
          <a:xfrm>
            <a:off x="6799876" y="4137152"/>
            <a:ext cx="2078182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15">
            <a:extLst>
              <a:ext uri="{FF2B5EF4-FFF2-40B4-BE49-F238E27FC236}">
                <a16:creationId xmlns:a16="http://schemas.microsoft.com/office/drawing/2014/main" id="{E7F500F2-26F6-925B-37BF-0159B243CBDC}"/>
              </a:ext>
            </a:extLst>
          </p:cNvPr>
          <p:cNvCxnSpPr/>
          <p:nvPr/>
        </p:nvCxnSpPr>
        <p:spPr>
          <a:xfrm>
            <a:off x="8455985" y="3798538"/>
            <a:ext cx="1592133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6">
            <a:extLst>
              <a:ext uri="{FF2B5EF4-FFF2-40B4-BE49-F238E27FC236}">
                <a16:creationId xmlns:a16="http://schemas.microsoft.com/office/drawing/2014/main" id="{7CDD32DE-C383-3CF0-F293-A78F045F3749}"/>
              </a:ext>
            </a:extLst>
          </p:cNvPr>
          <p:cNvCxnSpPr/>
          <p:nvPr/>
        </p:nvCxnSpPr>
        <p:spPr>
          <a:xfrm flipV="1">
            <a:off x="8717186" y="3798538"/>
            <a:ext cx="0" cy="338614"/>
          </a:xfrm>
          <a:prstGeom prst="straightConnector1">
            <a:avLst/>
          </a:prstGeom>
          <a:ln>
            <a:solidFill>
              <a:srgbClr val="AA8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21">
            <a:extLst>
              <a:ext uri="{FF2B5EF4-FFF2-40B4-BE49-F238E27FC236}">
                <a16:creationId xmlns:a16="http://schemas.microsoft.com/office/drawing/2014/main" id="{AE2B5546-CFEC-4DAA-C37E-CD2C099CD05B}"/>
              </a:ext>
            </a:extLst>
          </p:cNvPr>
          <p:cNvCxnSpPr/>
          <p:nvPr/>
        </p:nvCxnSpPr>
        <p:spPr>
          <a:xfrm>
            <a:off x="9818060" y="2659690"/>
            <a:ext cx="0" cy="23717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4">
            <a:extLst>
              <a:ext uri="{FF2B5EF4-FFF2-40B4-BE49-F238E27FC236}">
                <a16:creationId xmlns:a16="http://schemas.microsoft.com/office/drawing/2014/main" id="{B9FFFDD9-72E8-DB19-E050-88B7E6D02190}"/>
              </a:ext>
            </a:extLst>
          </p:cNvPr>
          <p:cNvCxnSpPr/>
          <p:nvPr/>
        </p:nvCxnSpPr>
        <p:spPr>
          <a:xfrm>
            <a:off x="9372766" y="2659690"/>
            <a:ext cx="51435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28">
            <a:extLst>
              <a:ext uri="{FF2B5EF4-FFF2-40B4-BE49-F238E27FC236}">
                <a16:creationId xmlns:a16="http://schemas.microsoft.com/office/drawing/2014/main" id="{269EAF2A-8FFD-839D-878C-66C4DCBC1C2C}"/>
              </a:ext>
            </a:extLst>
          </p:cNvPr>
          <p:cNvCxnSpPr/>
          <p:nvPr/>
        </p:nvCxnSpPr>
        <p:spPr>
          <a:xfrm>
            <a:off x="9372766" y="5045701"/>
            <a:ext cx="564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29">
            <a:extLst>
              <a:ext uri="{FF2B5EF4-FFF2-40B4-BE49-F238E27FC236}">
                <a16:creationId xmlns:a16="http://schemas.microsoft.com/office/drawing/2014/main" id="{925F16AC-47AB-1D1A-1F0F-635B5F389F4C}"/>
              </a:ext>
            </a:extLst>
          </p:cNvPr>
          <p:cNvSpPr/>
          <p:nvPr/>
        </p:nvSpPr>
        <p:spPr>
          <a:xfrm>
            <a:off x="5882609" y="3487919"/>
            <a:ext cx="122822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+mn-ea"/>
              </a:rPr>
              <a:t>각 입력 평균의 차이</a:t>
            </a:r>
            <a:endParaRPr lang="ko-KR" altLang="en-US" sz="900" b="1" dirty="0"/>
          </a:p>
        </p:txBody>
      </p:sp>
      <p:cxnSp>
        <p:nvCxnSpPr>
          <p:cNvPr id="19" name="직선 화살표 연결선 8">
            <a:extLst>
              <a:ext uri="{FF2B5EF4-FFF2-40B4-BE49-F238E27FC236}">
                <a16:creationId xmlns:a16="http://schemas.microsoft.com/office/drawing/2014/main" id="{910FC3E0-CCAD-FAA2-6201-263C7336F089}"/>
              </a:ext>
            </a:extLst>
          </p:cNvPr>
          <p:cNvCxnSpPr/>
          <p:nvPr/>
        </p:nvCxnSpPr>
        <p:spPr>
          <a:xfrm flipV="1">
            <a:off x="7371044" y="4137152"/>
            <a:ext cx="0" cy="510838"/>
          </a:xfrm>
          <a:prstGeom prst="straightConnector1">
            <a:avLst/>
          </a:prstGeom>
          <a:ln>
            <a:solidFill>
              <a:srgbClr val="E6819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37">
            <a:extLst>
              <a:ext uri="{FF2B5EF4-FFF2-40B4-BE49-F238E27FC236}">
                <a16:creationId xmlns:a16="http://schemas.microsoft.com/office/drawing/2014/main" id="{0FC3FA9E-C6A3-1886-9802-7C8E3BC0DE53}"/>
              </a:ext>
            </a:extLst>
          </p:cNvPr>
          <p:cNvCxnSpPr>
            <a:stCxn id="17" idx="2"/>
          </p:cNvCxnSpPr>
          <p:nvPr/>
        </p:nvCxnSpPr>
        <p:spPr>
          <a:xfrm>
            <a:off x="6496720" y="3718751"/>
            <a:ext cx="858392" cy="68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42">
            <a:extLst>
              <a:ext uri="{FF2B5EF4-FFF2-40B4-BE49-F238E27FC236}">
                <a16:creationId xmlns:a16="http://schemas.microsoft.com/office/drawing/2014/main" id="{70255AAB-7AD9-245B-1C82-F8C406E929F2}"/>
              </a:ext>
            </a:extLst>
          </p:cNvPr>
          <p:cNvSpPr/>
          <p:nvPr/>
        </p:nvSpPr>
        <p:spPr>
          <a:xfrm>
            <a:off x="7627152" y="2952813"/>
            <a:ext cx="122822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+mn-ea"/>
              </a:rPr>
              <a:t>각 입력 평균의 차이</a:t>
            </a:r>
            <a:endParaRPr lang="ko-KR" altLang="en-US" sz="900" b="1" dirty="0"/>
          </a:p>
        </p:txBody>
      </p:sp>
      <p:cxnSp>
        <p:nvCxnSpPr>
          <p:cNvPr id="22" name="직선 화살표 연결선 40">
            <a:extLst>
              <a:ext uri="{FF2B5EF4-FFF2-40B4-BE49-F238E27FC236}">
                <a16:creationId xmlns:a16="http://schemas.microsoft.com/office/drawing/2014/main" id="{D9216CDF-CB6E-E06D-C50A-C1F48D1A15FD}"/>
              </a:ext>
            </a:extLst>
          </p:cNvPr>
          <p:cNvCxnSpPr>
            <a:stCxn id="21" idx="2"/>
          </p:cNvCxnSpPr>
          <p:nvPr/>
        </p:nvCxnSpPr>
        <p:spPr>
          <a:xfrm>
            <a:off x="8241263" y="3183645"/>
            <a:ext cx="429035" cy="7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48">
            <a:extLst>
              <a:ext uri="{FF2B5EF4-FFF2-40B4-BE49-F238E27FC236}">
                <a16:creationId xmlns:a16="http://schemas.microsoft.com/office/drawing/2014/main" id="{67789392-9BF5-2D42-2BF2-B3A9ECED7DDD}"/>
              </a:ext>
            </a:extLst>
          </p:cNvPr>
          <p:cNvSpPr/>
          <p:nvPr/>
        </p:nvSpPr>
        <p:spPr>
          <a:xfrm rot="5400000">
            <a:off x="9591102" y="3261735"/>
            <a:ext cx="6832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/>
              <a:t>Variability</a:t>
            </a:r>
            <a:endParaRPr lang="ko-KR" altLang="en-US" sz="900" b="1" dirty="0"/>
          </a:p>
        </p:txBody>
      </p:sp>
      <p:cxnSp>
        <p:nvCxnSpPr>
          <p:cNvPr id="24" name="직선 화살표 연결선 49">
            <a:extLst>
              <a:ext uri="{FF2B5EF4-FFF2-40B4-BE49-F238E27FC236}">
                <a16:creationId xmlns:a16="http://schemas.microsoft.com/office/drawing/2014/main" id="{DD039417-06A3-7D47-4E29-9C4077F50C96}"/>
              </a:ext>
            </a:extLst>
          </p:cNvPr>
          <p:cNvCxnSpPr/>
          <p:nvPr/>
        </p:nvCxnSpPr>
        <p:spPr>
          <a:xfrm flipV="1">
            <a:off x="5805382" y="4666489"/>
            <a:ext cx="665080" cy="837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52">
            <a:extLst>
              <a:ext uri="{FF2B5EF4-FFF2-40B4-BE49-F238E27FC236}">
                <a16:creationId xmlns:a16="http://schemas.microsoft.com/office/drawing/2014/main" id="{3C46F85E-9D45-A19C-D70F-8599E6AA1F4E}"/>
              </a:ext>
            </a:extLst>
          </p:cNvPr>
          <p:cNvSpPr/>
          <p:nvPr/>
        </p:nvSpPr>
        <p:spPr>
          <a:xfrm>
            <a:off x="4998109" y="5534642"/>
            <a:ext cx="106150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중간값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(median)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114139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21F7-27A4-E194-F0F9-1E6EFF52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927656F-41CD-6CFA-7F23-8137232D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3" y="303762"/>
            <a:ext cx="5400600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 </a:t>
            </a:r>
            <a:endParaRPr lang="en-US" altLang="ko-KR" sz="2400" b="1" dirty="0">
              <a:latin typeface="+mn-ea"/>
              <a:ea typeface="+mn-ea"/>
            </a:endParaRPr>
          </a:p>
        </p:txBody>
      </p:sp>
      <p:cxnSp>
        <p:nvCxnSpPr>
          <p:cNvPr id="2" name="직선 화살표 연결선 11">
            <a:extLst>
              <a:ext uri="{FF2B5EF4-FFF2-40B4-BE49-F238E27FC236}">
                <a16:creationId xmlns:a16="http://schemas.microsoft.com/office/drawing/2014/main" id="{FE0EE283-C6CF-9C4E-393C-01423FD0B29E}"/>
              </a:ext>
            </a:extLst>
          </p:cNvPr>
          <p:cNvCxnSpPr/>
          <p:nvPr/>
        </p:nvCxnSpPr>
        <p:spPr>
          <a:xfrm>
            <a:off x="739833" y="4472247"/>
            <a:ext cx="2901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20">
            <a:extLst>
              <a:ext uri="{FF2B5EF4-FFF2-40B4-BE49-F238E27FC236}">
                <a16:creationId xmlns:a16="http://schemas.microsoft.com/office/drawing/2014/main" id="{31E8F770-8B95-D59F-5EBA-9C8307635884}"/>
              </a:ext>
            </a:extLst>
          </p:cNvPr>
          <p:cNvCxnSpPr/>
          <p:nvPr/>
        </p:nvCxnSpPr>
        <p:spPr>
          <a:xfrm flipV="1">
            <a:off x="739833" y="1820487"/>
            <a:ext cx="0" cy="265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58">
            <a:extLst>
              <a:ext uri="{FF2B5EF4-FFF2-40B4-BE49-F238E27FC236}">
                <a16:creationId xmlns:a16="http://schemas.microsoft.com/office/drawing/2014/main" id="{F2CACE7B-3616-3BAF-4B2B-B12CCC2D0C38}"/>
              </a:ext>
            </a:extLst>
          </p:cNvPr>
          <p:cNvGrpSpPr/>
          <p:nvPr/>
        </p:nvGrpSpPr>
        <p:grpSpPr>
          <a:xfrm>
            <a:off x="681646" y="2036616"/>
            <a:ext cx="3092334" cy="2268153"/>
            <a:chOff x="942975" y="2569039"/>
            <a:chExt cx="2233613" cy="1612436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26" name="타원 22">
              <a:extLst>
                <a:ext uri="{FF2B5EF4-FFF2-40B4-BE49-F238E27FC236}">
                  <a16:creationId xmlns:a16="http://schemas.microsoft.com/office/drawing/2014/main" id="{6420117A-B856-59DA-9ED5-BCC0841EC84D}"/>
                </a:ext>
              </a:extLst>
            </p:cNvPr>
            <p:cNvSpPr/>
            <p:nvPr/>
          </p:nvSpPr>
          <p:spPr>
            <a:xfrm>
              <a:off x="1172095" y="2892829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33">
              <a:extLst>
                <a:ext uri="{FF2B5EF4-FFF2-40B4-BE49-F238E27FC236}">
                  <a16:creationId xmlns:a16="http://schemas.microsoft.com/office/drawing/2014/main" id="{62279B0E-A0D6-7AF0-AE17-F0D31EC61CFF}"/>
                </a:ext>
              </a:extLst>
            </p:cNvPr>
            <p:cNvSpPr/>
            <p:nvPr/>
          </p:nvSpPr>
          <p:spPr>
            <a:xfrm>
              <a:off x="1388228" y="2978725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34">
              <a:extLst>
                <a:ext uri="{FF2B5EF4-FFF2-40B4-BE49-F238E27FC236}">
                  <a16:creationId xmlns:a16="http://schemas.microsoft.com/office/drawing/2014/main" id="{F9B7B9E0-18C6-FBD1-0893-D96C3E3D31D3}"/>
                </a:ext>
              </a:extLst>
            </p:cNvPr>
            <p:cNvSpPr/>
            <p:nvPr/>
          </p:nvSpPr>
          <p:spPr>
            <a:xfrm>
              <a:off x="1611977" y="3025832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35">
              <a:extLst>
                <a:ext uri="{FF2B5EF4-FFF2-40B4-BE49-F238E27FC236}">
                  <a16:creationId xmlns:a16="http://schemas.microsoft.com/office/drawing/2014/main" id="{6F4094E5-57B3-89D9-5D90-4EDE24DF2F1B}"/>
                </a:ext>
              </a:extLst>
            </p:cNvPr>
            <p:cNvSpPr/>
            <p:nvPr/>
          </p:nvSpPr>
          <p:spPr>
            <a:xfrm>
              <a:off x="1678478" y="3230879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36">
              <a:extLst>
                <a:ext uri="{FF2B5EF4-FFF2-40B4-BE49-F238E27FC236}">
                  <a16:creationId xmlns:a16="http://schemas.microsoft.com/office/drawing/2014/main" id="{BA20672B-729B-FE93-B8B0-06EB7AC9CCCA}"/>
                </a:ext>
              </a:extLst>
            </p:cNvPr>
            <p:cNvSpPr/>
            <p:nvPr/>
          </p:nvSpPr>
          <p:spPr>
            <a:xfrm>
              <a:off x="1913312" y="3559961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7">
              <a:extLst>
                <a:ext uri="{FF2B5EF4-FFF2-40B4-BE49-F238E27FC236}">
                  <a16:creationId xmlns:a16="http://schemas.microsoft.com/office/drawing/2014/main" id="{4B9EAF25-2BA4-8FA5-8661-48B1C4726152}"/>
                </a:ext>
              </a:extLst>
            </p:cNvPr>
            <p:cNvSpPr/>
            <p:nvPr/>
          </p:nvSpPr>
          <p:spPr>
            <a:xfrm>
              <a:off x="1880062" y="3264130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9">
              <a:extLst>
                <a:ext uri="{FF2B5EF4-FFF2-40B4-BE49-F238E27FC236}">
                  <a16:creationId xmlns:a16="http://schemas.microsoft.com/office/drawing/2014/main" id="{5D3E6A9E-4018-CC00-F197-D1A66DC1CF8D}"/>
                </a:ext>
              </a:extLst>
            </p:cNvPr>
            <p:cNvSpPr/>
            <p:nvPr/>
          </p:nvSpPr>
          <p:spPr>
            <a:xfrm>
              <a:off x="2086495" y="3374967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40">
              <a:extLst>
                <a:ext uri="{FF2B5EF4-FFF2-40B4-BE49-F238E27FC236}">
                  <a16:creationId xmlns:a16="http://schemas.microsoft.com/office/drawing/2014/main" id="{AB43A0E5-3315-71D4-DF00-213A5FE124BD}"/>
                </a:ext>
              </a:extLst>
            </p:cNvPr>
            <p:cNvSpPr/>
            <p:nvPr/>
          </p:nvSpPr>
          <p:spPr>
            <a:xfrm>
              <a:off x="2065712" y="3571044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41">
              <a:extLst>
                <a:ext uri="{FF2B5EF4-FFF2-40B4-BE49-F238E27FC236}">
                  <a16:creationId xmlns:a16="http://schemas.microsoft.com/office/drawing/2014/main" id="{AF65E5B9-C43A-0278-4881-32FF8A52401B}"/>
                </a:ext>
              </a:extLst>
            </p:cNvPr>
            <p:cNvSpPr/>
            <p:nvPr/>
          </p:nvSpPr>
          <p:spPr>
            <a:xfrm>
              <a:off x="1359131" y="3404789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42">
              <a:extLst>
                <a:ext uri="{FF2B5EF4-FFF2-40B4-BE49-F238E27FC236}">
                  <a16:creationId xmlns:a16="http://schemas.microsoft.com/office/drawing/2014/main" id="{E958C14D-F20A-EA40-C0EC-54E68B70F76C}"/>
                </a:ext>
              </a:extLst>
            </p:cNvPr>
            <p:cNvSpPr/>
            <p:nvPr/>
          </p:nvSpPr>
          <p:spPr>
            <a:xfrm>
              <a:off x="1508761" y="2739771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43">
              <a:extLst>
                <a:ext uri="{FF2B5EF4-FFF2-40B4-BE49-F238E27FC236}">
                  <a16:creationId xmlns:a16="http://schemas.microsoft.com/office/drawing/2014/main" id="{AFCB1DAB-AB11-7BF6-6044-E1E97C6B77AB}"/>
                </a:ext>
              </a:extLst>
            </p:cNvPr>
            <p:cNvSpPr/>
            <p:nvPr/>
          </p:nvSpPr>
          <p:spPr>
            <a:xfrm>
              <a:off x="2251363" y="3471290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44">
              <a:extLst>
                <a:ext uri="{FF2B5EF4-FFF2-40B4-BE49-F238E27FC236}">
                  <a16:creationId xmlns:a16="http://schemas.microsoft.com/office/drawing/2014/main" id="{299717EC-1BDB-7B5F-B48C-6BE57003284A}"/>
                </a:ext>
              </a:extLst>
            </p:cNvPr>
            <p:cNvSpPr/>
            <p:nvPr/>
          </p:nvSpPr>
          <p:spPr>
            <a:xfrm>
              <a:off x="2065712" y="3712361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45">
              <a:extLst>
                <a:ext uri="{FF2B5EF4-FFF2-40B4-BE49-F238E27FC236}">
                  <a16:creationId xmlns:a16="http://schemas.microsoft.com/office/drawing/2014/main" id="{CA7F2793-3C18-F187-4E92-07580689C466}"/>
                </a:ext>
              </a:extLst>
            </p:cNvPr>
            <p:cNvSpPr/>
            <p:nvPr/>
          </p:nvSpPr>
          <p:spPr>
            <a:xfrm>
              <a:off x="2251362" y="3649287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46">
              <a:extLst>
                <a:ext uri="{FF2B5EF4-FFF2-40B4-BE49-F238E27FC236}">
                  <a16:creationId xmlns:a16="http://schemas.microsoft.com/office/drawing/2014/main" id="{B196A0B1-E214-6615-F23D-F1E0BCE8DAE3}"/>
                </a:ext>
              </a:extLst>
            </p:cNvPr>
            <p:cNvSpPr/>
            <p:nvPr/>
          </p:nvSpPr>
          <p:spPr>
            <a:xfrm>
              <a:off x="1999211" y="3108303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47">
              <a:extLst>
                <a:ext uri="{FF2B5EF4-FFF2-40B4-BE49-F238E27FC236}">
                  <a16:creationId xmlns:a16="http://schemas.microsoft.com/office/drawing/2014/main" id="{2BB2D1DF-4DD1-8927-F24F-5988E669B75F}"/>
                </a:ext>
              </a:extLst>
            </p:cNvPr>
            <p:cNvSpPr/>
            <p:nvPr/>
          </p:nvSpPr>
          <p:spPr>
            <a:xfrm>
              <a:off x="2453768" y="3141553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8">
              <a:extLst>
                <a:ext uri="{FF2B5EF4-FFF2-40B4-BE49-F238E27FC236}">
                  <a16:creationId xmlns:a16="http://schemas.microsoft.com/office/drawing/2014/main" id="{1927592C-50F2-E556-48AF-4ACD395B21AC}"/>
                </a:ext>
              </a:extLst>
            </p:cNvPr>
            <p:cNvSpPr/>
            <p:nvPr/>
          </p:nvSpPr>
          <p:spPr>
            <a:xfrm>
              <a:off x="2727612" y="3650369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9">
              <a:extLst>
                <a:ext uri="{FF2B5EF4-FFF2-40B4-BE49-F238E27FC236}">
                  <a16:creationId xmlns:a16="http://schemas.microsoft.com/office/drawing/2014/main" id="{FA87B459-AF82-BB8B-A135-07B5AA6FBDE1}"/>
                </a:ext>
              </a:extLst>
            </p:cNvPr>
            <p:cNvSpPr/>
            <p:nvPr/>
          </p:nvSpPr>
          <p:spPr>
            <a:xfrm>
              <a:off x="2453768" y="3576888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50">
              <a:extLst>
                <a:ext uri="{FF2B5EF4-FFF2-40B4-BE49-F238E27FC236}">
                  <a16:creationId xmlns:a16="http://schemas.microsoft.com/office/drawing/2014/main" id="{1B4EF9BA-76A9-0D86-7C5D-F394DED94553}"/>
                </a:ext>
              </a:extLst>
            </p:cNvPr>
            <p:cNvSpPr/>
            <p:nvPr/>
          </p:nvSpPr>
          <p:spPr>
            <a:xfrm>
              <a:off x="2582356" y="3801688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52">
              <a:extLst>
                <a:ext uri="{FF2B5EF4-FFF2-40B4-BE49-F238E27FC236}">
                  <a16:creationId xmlns:a16="http://schemas.microsoft.com/office/drawing/2014/main" id="{27AD61CB-0D20-2217-66AF-B2D6E9CB9EA0}"/>
                </a:ext>
              </a:extLst>
            </p:cNvPr>
            <p:cNvSpPr/>
            <p:nvPr/>
          </p:nvSpPr>
          <p:spPr>
            <a:xfrm>
              <a:off x="2867522" y="3975276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53">
              <a:extLst>
                <a:ext uri="{FF2B5EF4-FFF2-40B4-BE49-F238E27FC236}">
                  <a16:creationId xmlns:a16="http://schemas.microsoft.com/office/drawing/2014/main" id="{0C963F4A-785D-5977-ED70-F313DA3D34F1}"/>
                </a:ext>
              </a:extLst>
            </p:cNvPr>
            <p:cNvSpPr/>
            <p:nvPr/>
          </p:nvSpPr>
          <p:spPr>
            <a:xfrm>
              <a:off x="2968118" y="3600657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54">
              <a:extLst>
                <a:ext uri="{FF2B5EF4-FFF2-40B4-BE49-F238E27FC236}">
                  <a16:creationId xmlns:a16="http://schemas.microsoft.com/office/drawing/2014/main" id="{95B2D7E1-278C-B584-64B5-46F640267FC5}"/>
                </a:ext>
              </a:extLst>
            </p:cNvPr>
            <p:cNvSpPr/>
            <p:nvPr/>
          </p:nvSpPr>
          <p:spPr>
            <a:xfrm>
              <a:off x="1232664" y="2691615"/>
              <a:ext cx="66501" cy="6650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연결선 55">
              <a:extLst>
                <a:ext uri="{FF2B5EF4-FFF2-40B4-BE49-F238E27FC236}">
                  <a16:creationId xmlns:a16="http://schemas.microsoft.com/office/drawing/2014/main" id="{E851992D-91E3-C88A-6F83-1A1A5C608A03}"/>
                </a:ext>
              </a:extLst>
            </p:cNvPr>
            <p:cNvCxnSpPr/>
            <p:nvPr/>
          </p:nvCxnSpPr>
          <p:spPr>
            <a:xfrm>
              <a:off x="942975" y="2569039"/>
              <a:ext cx="2233613" cy="1612436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ECD79B-5835-19CC-3825-8FB992052E46}"/>
                  </a:ext>
                </a:extLst>
              </p:cNvPr>
              <p:cNvSpPr txBox="1"/>
              <p:nvPr/>
            </p:nvSpPr>
            <p:spPr>
              <a:xfrm>
                <a:off x="4578612" y="1724479"/>
                <a:ext cx="1533497" cy="312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CECD79B-5835-19CC-3825-8FB99205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612" y="1724479"/>
                <a:ext cx="1533497" cy="312137"/>
              </a:xfrm>
              <a:prstGeom prst="rect">
                <a:avLst/>
              </a:prstGeom>
              <a:blipFill>
                <a:blip r:embed="rId2"/>
                <a:stretch>
                  <a:fillRect l="-3279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직사각형 60">
            <a:extLst>
              <a:ext uri="{FF2B5EF4-FFF2-40B4-BE49-F238E27FC236}">
                <a16:creationId xmlns:a16="http://schemas.microsoft.com/office/drawing/2014/main" id="{C6F95B11-10EE-8F2E-DE12-DACF411BFCAB}"/>
              </a:ext>
            </a:extLst>
          </p:cNvPr>
          <p:cNvSpPr/>
          <p:nvPr/>
        </p:nvSpPr>
        <p:spPr>
          <a:xfrm>
            <a:off x="6582819" y="1163741"/>
            <a:ext cx="208216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Coefficient (slope)</a:t>
            </a:r>
          </a:p>
        </p:txBody>
      </p:sp>
      <p:sp>
        <p:nvSpPr>
          <p:cNvPr id="50" name="텍스트 개체 틀 61">
            <a:extLst>
              <a:ext uri="{FF2B5EF4-FFF2-40B4-BE49-F238E27FC236}">
                <a16:creationId xmlns:a16="http://schemas.microsoft.com/office/drawing/2014/main" id="{F5957567-9D1F-6D38-0283-978311DD7741}"/>
              </a:ext>
            </a:extLst>
          </p:cNvPr>
          <p:cNvSpPr txBox="1">
            <a:spLocks/>
          </p:cNvSpPr>
          <p:nvPr/>
        </p:nvSpPr>
        <p:spPr>
          <a:xfrm>
            <a:off x="273051" y="694940"/>
            <a:ext cx="9359900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Linear Regression</a:t>
            </a:r>
            <a:endParaRPr lang="ko-KR" altLang="en-US" dirty="0"/>
          </a:p>
        </p:txBody>
      </p:sp>
      <p:sp>
        <p:nvSpPr>
          <p:cNvPr id="51" name="직사각형 62">
            <a:extLst>
              <a:ext uri="{FF2B5EF4-FFF2-40B4-BE49-F238E27FC236}">
                <a16:creationId xmlns:a16="http://schemas.microsoft.com/office/drawing/2014/main" id="{9B68E97C-9680-1BE3-A3D4-11B1A5032578}"/>
              </a:ext>
            </a:extLst>
          </p:cNvPr>
          <p:cNvSpPr/>
          <p:nvPr/>
        </p:nvSpPr>
        <p:spPr>
          <a:xfrm>
            <a:off x="6582819" y="797765"/>
            <a:ext cx="23000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Constant (intercept)</a:t>
            </a:r>
          </a:p>
        </p:txBody>
      </p:sp>
      <p:sp>
        <p:nvSpPr>
          <p:cNvPr id="52" name="직사각형 63">
            <a:extLst>
              <a:ext uri="{FF2B5EF4-FFF2-40B4-BE49-F238E27FC236}">
                <a16:creationId xmlns:a16="http://schemas.microsoft.com/office/drawing/2014/main" id="{AD24D1E5-42BD-2C1D-BD8B-FDC3716E01BA}"/>
              </a:ext>
            </a:extLst>
          </p:cNvPr>
          <p:cNvSpPr/>
          <p:nvPr/>
        </p:nvSpPr>
        <p:spPr>
          <a:xfrm>
            <a:off x="5650948" y="1716166"/>
            <a:ext cx="226149" cy="378641"/>
          </a:xfrm>
          <a:prstGeom prst="rect">
            <a:avLst/>
          </a:prstGeom>
          <a:solidFill>
            <a:srgbClr val="7030A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64">
            <a:extLst>
              <a:ext uri="{FF2B5EF4-FFF2-40B4-BE49-F238E27FC236}">
                <a16:creationId xmlns:a16="http://schemas.microsoft.com/office/drawing/2014/main" id="{49102C62-9C03-B5E8-3E65-B82835A78F7D}"/>
              </a:ext>
            </a:extLst>
          </p:cNvPr>
          <p:cNvSpPr/>
          <p:nvPr/>
        </p:nvSpPr>
        <p:spPr>
          <a:xfrm>
            <a:off x="5159643" y="1724479"/>
            <a:ext cx="226149" cy="378641"/>
          </a:xfrm>
          <a:prstGeom prst="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65">
            <a:extLst>
              <a:ext uri="{FF2B5EF4-FFF2-40B4-BE49-F238E27FC236}">
                <a16:creationId xmlns:a16="http://schemas.microsoft.com/office/drawing/2014/main" id="{28C1E773-752D-C10C-9CD9-91E33B17CD76}"/>
              </a:ext>
            </a:extLst>
          </p:cNvPr>
          <p:cNvSpPr/>
          <p:nvPr/>
        </p:nvSpPr>
        <p:spPr>
          <a:xfrm>
            <a:off x="5893723" y="1716165"/>
            <a:ext cx="226149" cy="378641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66">
            <a:extLst>
              <a:ext uri="{FF2B5EF4-FFF2-40B4-BE49-F238E27FC236}">
                <a16:creationId xmlns:a16="http://schemas.microsoft.com/office/drawing/2014/main" id="{F23693A6-0589-A8A9-8E3C-E3F9AFB30194}"/>
              </a:ext>
            </a:extLst>
          </p:cNvPr>
          <p:cNvSpPr/>
          <p:nvPr/>
        </p:nvSpPr>
        <p:spPr>
          <a:xfrm>
            <a:off x="4595228" y="1724479"/>
            <a:ext cx="274320" cy="378641"/>
          </a:xfrm>
          <a:prstGeom prst="rect">
            <a:avLst/>
          </a:prstGeom>
          <a:solidFill>
            <a:schemeClr val="accent6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67">
            <a:extLst>
              <a:ext uri="{FF2B5EF4-FFF2-40B4-BE49-F238E27FC236}">
                <a16:creationId xmlns:a16="http://schemas.microsoft.com/office/drawing/2014/main" id="{D52CEFFA-69BB-39B7-7106-462A66BA64A9}"/>
              </a:ext>
            </a:extLst>
          </p:cNvPr>
          <p:cNvSpPr/>
          <p:nvPr/>
        </p:nvSpPr>
        <p:spPr>
          <a:xfrm>
            <a:off x="6582819" y="2424040"/>
            <a:ext cx="321755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Independent variable (input)</a:t>
            </a:r>
          </a:p>
        </p:txBody>
      </p:sp>
      <p:sp>
        <p:nvSpPr>
          <p:cNvPr id="57" name="직사각형 68">
            <a:extLst>
              <a:ext uri="{FF2B5EF4-FFF2-40B4-BE49-F238E27FC236}">
                <a16:creationId xmlns:a16="http://schemas.microsoft.com/office/drawing/2014/main" id="{EFED7523-3F72-D491-CFF7-D3688EA151D8}"/>
              </a:ext>
            </a:extLst>
          </p:cNvPr>
          <p:cNvSpPr/>
          <p:nvPr/>
        </p:nvSpPr>
        <p:spPr>
          <a:xfrm>
            <a:off x="5411388" y="3116590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Dependent variable (predicted variable)</a:t>
            </a:r>
          </a:p>
        </p:txBody>
      </p:sp>
      <p:cxnSp>
        <p:nvCxnSpPr>
          <p:cNvPr id="58" name="구부러진 연결선 70">
            <a:extLst>
              <a:ext uri="{FF2B5EF4-FFF2-40B4-BE49-F238E27FC236}">
                <a16:creationId xmlns:a16="http://schemas.microsoft.com/office/drawing/2014/main" id="{0BA087D9-CB23-E615-A163-1E230320A8CB}"/>
              </a:ext>
            </a:extLst>
          </p:cNvPr>
          <p:cNvCxnSpPr>
            <a:stCxn id="51" idx="1"/>
            <a:endCxn id="53" idx="0"/>
          </p:cNvCxnSpPr>
          <p:nvPr/>
        </p:nvCxnSpPr>
        <p:spPr>
          <a:xfrm rot="10800000" flipV="1">
            <a:off x="5272719" y="959347"/>
            <a:ext cx="1310101" cy="76513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구부러진 연결선 79">
            <a:extLst>
              <a:ext uri="{FF2B5EF4-FFF2-40B4-BE49-F238E27FC236}">
                <a16:creationId xmlns:a16="http://schemas.microsoft.com/office/drawing/2014/main" id="{183F328F-AA92-0385-25F6-B4F18B8E3056}"/>
              </a:ext>
            </a:extLst>
          </p:cNvPr>
          <p:cNvCxnSpPr>
            <a:stCxn id="49" idx="1"/>
            <a:endCxn id="52" idx="0"/>
          </p:cNvCxnSpPr>
          <p:nvPr/>
        </p:nvCxnSpPr>
        <p:spPr>
          <a:xfrm rot="10800000" flipV="1">
            <a:off x="5764023" y="1325324"/>
            <a:ext cx="818796" cy="39084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구부러진 연결선 82">
            <a:extLst>
              <a:ext uri="{FF2B5EF4-FFF2-40B4-BE49-F238E27FC236}">
                <a16:creationId xmlns:a16="http://schemas.microsoft.com/office/drawing/2014/main" id="{3E9C5DA6-EB05-4062-D443-65F6153008ED}"/>
              </a:ext>
            </a:extLst>
          </p:cNvPr>
          <p:cNvCxnSpPr>
            <a:stCxn id="56" idx="1"/>
            <a:endCxn id="54" idx="2"/>
          </p:cNvCxnSpPr>
          <p:nvPr/>
        </p:nvCxnSpPr>
        <p:spPr>
          <a:xfrm rot="10800000">
            <a:off x="6006799" y="2094807"/>
            <a:ext cx="576021" cy="4908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구부러진 연결선 87">
            <a:extLst>
              <a:ext uri="{FF2B5EF4-FFF2-40B4-BE49-F238E27FC236}">
                <a16:creationId xmlns:a16="http://schemas.microsoft.com/office/drawing/2014/main" id="{AE9F860D-11D9-57F4-A312-952E5BD4D9D0}"/>
              </a:ext>
            </a:extLst>
          </p:cNvPr>
          <p:cNvCxnSpPr>
            <a:stCxn id="57" idx="1"/>
            <a:endCxn id="55" idx="2"/>
          </p:cNvCxnSpPr>
          <p:nvPr/>
        </p:nvCxnSpPr>
        <p:spPr>
          <a:xfrm rot="10800000">
            <a:off x="4732388" y="2103121"/>
            <a:ext cx="679000" cy="117505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89">
            <a:extLst>
              <a:ext uri="{FF2B5EF4-FFF2-40B4-BE49-F238E27FC236}">
                <a16:creationId xmlns:a16="http://schemas.microsoft.com/office/drawing/2014/main" id="{DF516B97-525B-A688-A17D-B806C5A5D1D9}"/>
              </a:ext>
            </a:extLst>
          </p:cNvPr>
          <p:cNvSpPr/>
          <p:nvPr/>
        </p:nvSpPr>
        <p:spPr>
          <a:xfrm>
            <a:off x="707793" y="4229966"/>
            <a:ext cx="74814" cy="74814"/>
          </a:xfrm>
          <a:prstGeom prst="ellipse">
            <a:avLst/>
          </a:prstGeom>
          <a:solidFill>
            <a:schemeClr val="accent1">
              <a:alpha val="26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90">
            <a:extLst>
              <a:ext uri="{FF2B5EF4-FFF2-40B4-BE49-F238E27FC236}">
                <a16:creationId xmlns:a16="http://schemas.microsoft.com/office/drawing/2014/main" id="{2D9EA883-46FA-917D-6744-F5F652F4F9D2}"/>
              </a:ext>
            </a:extLst>
          </p:cNvPr>
          <p:cNvSpPr/>
          <p:nvPr/>
        </p:nvSpPr>
        <p:spPr>
          <a:xfrm>
            <a:off x="641959" y="4886954"/>
            <a:ext cx="23000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Constant (intercept)</a:t>
            </a:r>
          </a:p>
        </p:txBody>
      </p:sp>
      <p:cxnSp>
        <p:nvCxnSpPr>
          <p:cNvPr id="64" name="구부러진 연결선 92">
            <a:extLst>
              <a:ext uri="{FF2B5EF4-FFF2-40B4-BE49-F238E27FC236}">
                <a16:creationId xmlns:a16="http://schemas.microsoft.com/office/drawing/2014/main" id="{19E85FB8-5793-FA36-9ACF-37B0BF7961A0}"/>
              </a:ext>
            </a:extLst>
          </p:cNvPr>
          <p:cNvCxnSpPr>
            <a:stCxn id="63" idx="1"/>
            <a:endCxn id="62" idx="2"/>
          </p:cNvCxnSpPr>
          <p:nvPr/>
        </p:nvCxnSpPr>
        <p:spPr>
          <a:xfrm rot="10800000" flipH="1">
            <a:off x="641959" y="4267373"/>
            <a:ext cx="65834" cy="781164"/>
          </a:xfrm>
          <a:prstGeom prst="curvedConnector3">
            <a:avLst>
              <a:gd name="adj1" fmla="val -3472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95">
            <a:extLst>
              <a:ext uri="{FF2B5EF4-FFF2-40B4-BE49-F238E27FC236}">
                <a16:creationId xmlns:a16="http://schemas.microsoft.com/office/drawing/2014/main" id="{AB47F6F0-84CE-F542-8774-696D3991D802}"/>
              </a:ext>
            </a:extLst>
          </p:cNvPr>
          <p:cNvCxnSpPr/>
          <p:nvPr/>
        </p:nvCxnSpPr>
        <p:spPr>
          <a:xfrm flipV="1">
            <a:off x="2951293" y="2340176"/>
            <a:ext cx="0" cy="2893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96">
            <a:extLst>
              <a:ext uri="{FF2B5EF4-FFF2-40B4-BE49-F238E27FC236}">
                <a16:creationId xmlns:a16="http://schemas.microsoft.com/office/drawing/2014/main" id="{C6C41B2D-DD91-4B7D-568C-13861B2512BB}"/>
              </a:ext>
            </a:extLst>
          </p:cNvPr>
          <p:cNvSpPr/>
          <p:nvPr/>
        </p:nvSpPr>
        <p:spPr>
          <a:xfrm>
            <a:off x="4269459" y="3831987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Estimator error</a:t>
            </a:r>
          </a:p>
        </p:txBody>
      </p:sp>
      <p:cxnSp>
        <p:nvCxnSpPr>
          <p:cNvPr id="67" name="구부러진 연결선 98">
            <a:extLst>
              <a:ext uri="{FF2B5EF4-FFF2-40B4-BE49-F238E27FC236}">
                <a16:creationId xmlns:a16="http://schemas.microsoft.com/office/drawing/2014/main" id="{2A430907-DD2C-35BC-05E9-516F7E84C840}"/>
              </a:ext>
            </a:extLst>
          </p:cNvPr>
          <p:cNvCxnSpPr>
            <a:stCxn id="66" idx="1"/>
          </p:cNvCxnSpPr>
          <p:nvPr/>
        </p:nvCxnSpPr>
        <p:spPr>
          <a:xfrm rot="10800000">
            <a:off x="2963419" y="2678622"/>
            <a:ext cx="1306040" cy="13149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4744F01-EA80-73AF-23B8-33C2C52342E9}"/>
                  </a:ext>
                </a:extLst>
              </p:cNvPr>
              <p:cNvSpPr txBox="1"/>
              <p:nvPr/>
            </p:nvSpPr>
            <p:spPr>
              <a:xfrm>
                <a:off x="2578024" y="2166391"/>
                <a:ext cx="300852" cy="312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4744F01-EA80-73AF-23B8-33C2C5234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024" y="2166391"/>
                <a:ext cx="300852" cy="312137"/>
              </a:xfrm>
              <a:prstGeom prst="rect">
                <a:avLst/>
              </a:prstGeom>
              <a:blipFill>
                <a:blip r:embed="rId3"/>
                <a:stretch>
                  <a:fillRect l="-12500" r="-833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97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85DDC-FFCE-23FF-9B77-58A0E751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229B8985-86F9-00DC-A439-A3D0F2B6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6965871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: SST, TSS, SSR, ESS, SSE, RSS</a:t>
            </a:r>
            <a:r>
              <a:rPr lang="ko-KR" altLang="en-US" sz="2400" b="1" dirty="0">
                <a:latin typeface="맑은 고딕" panose="020B0503020000020004" pitchFamily="50" charset="-127"/>
              </a:rPr>
              <a:t> 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4" name="직사각형 68">
            <a:extLst>
              <a:ext uri="{FF2B5EF4-FFF2-40B4-BE49-F238E27FC236}">
                <a16:creationId xmlns:a16="http://schemas.microsoft.com/office/drawing/2014/main" id="{A1CC2B24-2D0F-7599-8FAD-6098B99F2F64}"/>
              </a:ext>
            </a:extLst>
          </p:cNvPr>
          <p:cNvSpPr/>
          <p:nvPr/>
        </p:nvSpPr>
        <p:spPr>
          <a:xfrm>
            <a:off x="285582" y="114738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quares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7708BD-F042-04D7-EE23-279488121D62}"/>
                  </a:ext>
                </a:extLst>
              </p:cNvPr>
              <p:cNvSpPr txBox="1"/>
              <p:nvPr/>
            </p:nvSpPr>
            <p:spPr>
              <a:xfrm>
                <a:off x="314604" y="1489523"/>
                <a:ext cx="134100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7708BD-F042-04D7-EE23-279488121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04" y="1489523"/>
                <a:ext cx="1341008" cy="756233"/>
              </a:xfrm>
              <a:prstGeom prst="rect">
                <a:avLst/>
              </a:prstGeom>
              <a:blipFill>
                <a:blip r:embed="rId2"/>
                <a:stretch>
                  <a:fillRect l="-60748" t="-118333" r="-935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1">
            <a:extLst>
              <a:ext uri="{FF2B5EF4-FFF2-40B4-BE49-F238E27FC236}">
                <a16:creationId xmlns:a16="http://schemas.microsoft.com/office/drawing/2014/main" id="{E9115EA8-5369-F224-4076-4FE831C5BAF0}"/>
              </a:ext>
            </a:extLst>
          </p:cNvPr>
          <p:cNvSpPr/>
          <p:nvPr/>
        </p:nvSpPr>
        <p:spPr>
          <a:xfrm>
            <a:off x="2129549" y="1706056"/>
            <a:ext cx="602932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데이터 베이스 전체의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Variability</a:t>
            </a:r>
          </a:p>
        </p:txBody>
      </p:sp>
      <p:sp>
        <p:nvSpPr>
          <p:cNvPr id="7" name="직사각형 56">
            <a:extLst>
              <a:ext uri="{FF2B5EF4-FFF2-40B4-BE49-F238E27FC236}">
                <a16:creationId xmlns:a16="http://schemas.microsoft.com/office/drawing/2014/main" id="{4ACA1266-A896-6DF2-1E0D-7EFBA37809DD}"/>
              </a:ext>
            </a:extLst>
          </p:cNvPr>
          <p:cNvSpPr/>
          <p:nvPr/>
        </p:nvSpPr>
        <p:spPr>
          <a:xfrm>
            <a:off x="3029536" y="1155920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=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otal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quares</a:t>
            </a:r>
          </a:p>
        </p:txBody>
      </p:sp>
      <p:sp>
        <p:nvSpPr>
          <p:cNvPr id="8" name="텍스트 개체 틀 61">
            <a:extLst>
              <a:ext uri="{FF2B5EF4-FFF2-40B4-BE49-F238E27FC236}">
                <a16:creationId xmlns:a16="http://schemas.microsoft.com/office/drawing/2014/main" id="{6EBF3562-17D1-3DEC-BF40-7AB609AA0369}"/>
              </a:ext>
            </a:extLst>
          </p:cNvPr>
          <p:cNvSpPr txBox="1">
            <a:spLocks/>
          </p:cNvSpPr>
          <p:nvPr/>
        </p:nvSpPr>
        <p:spPr>
          <a:xfrm>
            <a:off x="3354300" y="934321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TSS</a:t>
            </a:r>
            <a:endParaRPr lang="en-US" altLang="ko-KR" dirty="0"/>
          </a:p>
        </p:txBody>
      </p:sp>
      <p:sp>
        <p:nvSpPr>
          <p:cNvPr id="9" name="텍스트 개체 틀 61">
            <a:extLst>
              <a:ext uri="{FF2B5EF4-FFF2-40B4-BE49-F238E27FC236}">
                <a16:creationId xmlns:a16="http://schemas.microsoft.com/office/drawing/2014/main" id="{C0D6DAEF-13FB-1FE6-BC4C-8ED82919863F}"/>
              </a:ext>
            </a:extLst>
          </p:cNvPr>
          <p:cNvSpPr txBox="1">
            <a:spLocks/>
          </p:cNvSpPr>
          <p:nvPr/>
        </p:nvSpPr>
        <p:spPr>
          <a:xfrm>
            <a:off x="383805" y="925783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SST</a:t>
            </a:r>
            <a:endParaRPr lang="en-US" altLang="ko-KR" dirty="0"/>
          </a:p>
        </p:txBody>
      </p:sp>
      <p:sp>
        <p:nvSpPr>
          <p:cNvPr id="10" name="텍스트 개체 틀 61">
            <a:extLst>
              <a:ext uri="{FF2B5EF4-FFF2-40B4-BE49-F238E27FC236}">
                <a16:creationId xmlns:a16="http://schemas.microsoft.com/office/drawing/2014/main" id="{819000C0-7446-DAFB-D942-3D9D5C6901B3}"/>
              </a:ext>
            </a:extLst>
          </p:cNvPr>
          <p:cNvSpPr txBox="1">
            <a:spLocks/>
          </p:cNvSpPr>
          <p:nvPr/>
        </p:nvSpPr>
        <p:spPr>
          <a:xfrm>
            <a:off x="314604" y="3089863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SSR</a:t>
            </a:r>
            <a:endParaRPr lang="en-US" altLang="ko-KR" dirty="0"/>
          </a:p>
        </p:txBody>
      </p:sp>
      <p:sp>
        <p:nvSpPr>
          <p:cNvPr id="11" name="직사각형 73">
            <a:extLst>
              <a:ext uri="{FF2B5EF4-FFF2-40B4-BE49-F238E27FC236}">
                <a16:creationId xmlns:a16="http://schemas.microsoft.com/office/drawing/2014/main" id="{FA69B151-1D5C-89BC-4C3F-15FF60F77328}"/>
              </a:ext>
            </a:extLst>
          </p:cNvPr>
          <p:cNvSpPr/>
          <p:nvPr/>
        </p:nvSpPr>
        <p:spPr>
          <a:xfrm>
            <a:off x="200473" y="3320345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quares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R</a:t>
            </a:r>
            <a:r>
              <a:rPr lang="en-US" altLang="ko-KR" sz="1600" b="1" dirty="0">
                <a:latin typeface="맑은 고딕" panose="020B0503020000020004" pitchFamily="50" charset="-127"/>
              </a:rPr>
              <a:t>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58489-ADE8-C314-5081-8E0D2E948EE2}"/>
                  </a:ext>
                </a:extLst>
              </p:cNvPr>
              <p:cNvSpPr txBox="1"/>
              <p:nvPr/>
            </p:nvSpPr>
            <p:spPr>
              <a:xfrm>
                <a:off x="285582" y="3738732"/>
                <a:ext cx="145296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⋀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58489-ADE8-C314-5081-8E0D2E948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82" y="3738732"/>
                <a:ext cx="1452962" cy="756233"/>
              </a:xfrm>
              <a:prstGeom prst="rect">
                <a:avLst/>
              </a:prstGeom>
              <a:blipFill>
                <a:blip r:embed="rId3"/>
                <a:stretch>
                  <a:fillRect l="-55652" t="-118333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75">
            <a:extLst>
              <a:ext uri="{FF2B5EF4-FFF2-40B4-BE49-F238E27FC236}">
                <a16:creationId xmlns:a16="http://schemas.microsoft.com/office/drawing/2014/main" id="{3EEC16E0-2510-94EA-83DD-FBC9FBE60B6E}"/>
              </a:ext>
            </a:extLst>
          </p:cNvPr>
          <p:cNvSpPr/>
          <p:nvPr/>
        </p:nvSpPr>
        <p:spPr>
          <a:xfrm>
            <a:off x="2100526" y="3999592"/>
            <a:ext cx="695203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Regression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으로 추정된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Variability</a:t>
            </a:r>
          </a:p>
        </p:txBody>
      </p:sp>
      <p:sp>
        <p:nvSpPr>
          <p:cNvPr id="15" name="직사각형 76">
            <a:extLst>
              <a:ext uri="{FF2B5EF4-FFF2-40B4-BE49-F238E27FC236}">
                <a16:creationId xmlns:a16="http://schemas.microsoft.com/office/drawing/2014/main" id="{8385A4FB-9920-B8F6-3341-9D6372672034}"/>
              </a:ext>
            </a:extLst>
          </p:cNvPr>
          <p:cNvSpPr/>
          <p:nvPr/>
        </p:nvSpPr>
        <p:spPr>
          <a:xfrm>
            <a:off x="3029536" y="3320345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=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E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xplained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latin typeface="맑은 고딕" panose="020B0503020000020004" pitchFamily="50" charset="-127"/>
              </a:rPr>
              <a:t>quares</a:t>
            </a:r>
          </a:p>
        </p:txBody>
      </p:sp>
      <p:sp>
        <p:nvSpPr>
          <p:cNvPr id="17" name="텍스트 개체 틀 61">
            <a:extLst>
              <a:ext uri="{FF2B5EF4-FFF2-40B4-BE49-F238E27FC236}">
                <a16:creationId xmlns:a16="http://schemas.microsoft.com/office/drawing/2014/main" id="{3E224AB8-A111-D28E-CE30-E8697AAEB5C5}"/>
              </a:ext>
            </a:extLst>
          </p:cNvPr>
          <p:cNvSpPr txBox="1">
            <a:spLocks/>
          </p:cNvSpPr>
          <p:nvPr/>
        </p:nvSpPr>
        <p:spPr>
          <a:xfrm>
            <a:off x="3354300" y="3098746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ESS</a:t>
            </a:r>
            <a:endParaRPr lang="en-US" altLang="ko-KR" dirty="0"/>
          </a:p>
        </p:txBody>
      </p:sp>
      <p:sp>
        <p:nvSpPr>
          <p:cNvPr id="19" name="텍스트 개체 틀 61">
            <a:extLst>
              <a:ext uri="{FF2B5EF4-FFF2-40B4-BE49-F238E27FC236}">
                <a16:creationId xmlns:a16="http://schemas.microsoft.com/office/drawing/2014/main" id="{417EEAF5-3285-F8E5-0CC9-80BDDD57EAF6}"/>
              </a:ext>
            </a:extLst>
          </p:cNvPr>
          <p:cNvSpPr txBox="1">
            <a:spLocks/>
          </p:cNvSpPr>
          <p:nvPr/>
        </p:nvSpPr>
        <p:spPr>
          <a:xfrm>
            <a:off x="314604" y="5101243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SSE</a:t>
            </a:r>
            <a:endParaRPr lang="en-US" altLang="ko-KR" dirty="0"/>
          </a:p>
        </p:txBody>
      </p:sp>
      <p:sp>
        <p:nvSpPr>
          <p:cNvPr id="20" name="직사각형 80">
            <a:extLst>
              <a:ext uri="{FF2B5EF4-FFF2-40B4-BE49-F238E27FC236}">
                <a16:creationId xmlns:a16="http://schemas.microsoft.com/office/drawing/2014/main" id="{920A9FFD-93CF-866D-7F4B-30DAE231E007}"/>
              </a:ext>
            </a:extLst>
          </p:cNvPr>
          <p:cNvSpPr/>
          <p:nvPr/>
        </p:nvSpPr>
        <p:spPr>
          <a:xfrm>
            <a:off x="200473" y="5331725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quares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E</a:t>
            </a:r>
            <a:r>
              <a:rPr lang="en-US" altLang="ko-KR" sz="1600" b="1" dirty="0">
                <a:latin typeface="맑은 고딕" panose="020B0503020000020004" pitchFamily="50" charset="-127"/>
              </a:rPr>
              <a:t>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FA07A3-E1D0-42CF-3EC5-441D93E42DCD}"/>
                  </a:ext>
                </a:extLst>
              </p:cNvPr>
              <p:cNvSpPr txBox="1"/>
              <p:nvPr/>
            </p:nvSpPr>
            <p:spPr>
              <a:xfrm>
                <a:off x="269968" y="5663773"/>
                <a:ext cx="63087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FA07A3-E1D0-42CF-3EC5-441D93E42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8" y="5663773"/>
                <a:ext cx="630878" cy="756233"/>
              </a:xfrm>
              <a:prstGeom prst="rect">
                <a:avLst/>
              </a:prstGeom>
              <a:blipFill>
                <a:blip r:embed="rId4"/>
                <a:stretch>
                  <a:fillRect l="-129412" t="-116393" r="-41176" b="-177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83">
            <a:extLst>
              <a:ext uri="{FF2B5EF4-FFF2-40B4-BE49-F238E27FC236}">
                <a16:creationId xmlns:a16="http://schemas.microsoft.com/office/drawing/2014/main" id="{E75DDEBD-1D21-B9AF-796B-9DFE657B189B}"/>
              </a:ext>
            </a:extLst>
          </p:cNvPr>
          <p:cNvSpPr/>
          <p:nvPr/>
        </p:nvSpPr>
        <p:spPr>
          <a:xfrm>
            <a:off x="3029536" y="532284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=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R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esidual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latin typeface="맑은 고딕" panose="020B0503020000020004" pitchFamily="50" charset="-127"/>
              </a:rPr>
              <a:t>um of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S</a:t>
            </a:r>
            <a:r>
              <a:rPr lang="en-US" altLang="ko-KR" sz="1600" b="1" dirty="0">
                <a:latin typeface="맑은 고딕" panose="020B0503020000020004" pitchFamily="50" charset="-127"/>
              </a:rPr>
              <a:t>quares</a:t>
            </a:r>
          </a:p>
        </p:txBody>
      </p:sp>
      <p:sp>
        <p:nvSpPr>
          <p:cNvPr id="23" name="텍스트 개체 틀 61">
            <a:extLst>
              <a:ext uri="{FF2B5EF4-FFF2-40B4-BE49-F238E27FC236}">
                <a16:creationId xmlns:a16="http://schemas.microsoft.com/office/drawing/2014/main" id="{A15CF0F0-A4D7-F352-C0A5-DC5E5829BC11}"/>
              </a:ext>
            </a:extLst>
          </p:cNvPr>
          <p:cNvSpPr txBox="1">
            <a:spLocks/>
          </p:cNvSpPr>
          <p:nvPr/>
        </p:nvSpPr>
        <p:spPr>
          <a:xfrm>
            <a:off x="3354300" y="5101243"/>
            <a:ext cx="403205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RSS</a:t>
            </a:r>
            <a:endParaRPr lang="en-US" altLang="ko-KR" dirty="0"/>
          </a:p>
        </p:txBody>
      </p:sp>
      <p:sp>
        <p:nvSpPr>
          <p:cNvPr id="24" name="직사각형 85">
            <a:extLst>
              <a:ext uri="{FF2B5EF4-FFF2-40B4-BE49-F238E27FC236}">
                <a16:creationId xmlns:a16="http://schemas.microsoft.com/office/drawing/2014/main" id="{AA37F174-E076-5744-D38B-E0B893DF4AA5}"/>
              </a:ext>
            </a:extLst>
          </p:cNvPr>
          <p:cNvSpPr/>
          <p:nvPr/>
        </p:nvSpPr>
        <p:spPr>
          <a:xfrm>
            <a:off x="3242141" y="5724816"/>
            <a:ext cx="695203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Error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항목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555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A6C45-35F0-853E-7787-6038A6CB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B23CBB7-B1CF-A519-BB62-1AED8840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6965871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: SST, TSS, SSR, ESS, SSE, RSS</a:t>
            </a:r>
            <a:r>
              <a:rPr lang="ko-KR" altLang="en-US" sz="2400" b="1" dirty="0">
                <a:latin typeface="맑은 고딕" panose="020B0503020000020004" pitchFamily="50" charset="-127"/>
              </a:rPr>
              <a:t> </a:t>
            </a:r>
            <a:endParaRPr lang="en-US" altLang="ko-KR" sz="2400" b="1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20E2E8E-7186-F13D-E148-3975CD156CE6}"/>
                  </a:ext>
                </a:extLst>
              </p:cNvPr>
              <p:cNvSpPr txBox="1"/>
              <p:nvPr/>
            </p:nvSpPr>
            <p:spPr>
              <a:xfrm>
                <a:off x="2671378" y="1148701"/>
                <a:ext cx="403559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ko-KR" alt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kumimoji="0" lang="ko-KR" alt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⋀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kumimoji="0" lang="ko-KR" altLang="en-US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kumimoji="0" lang="ko-KR" altLang="en-US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</a:rPr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kumimoji="0" lang="ko-KR" altLang="en-US" sz="1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20E2E8E-7186-F13D-E148-3975CD156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378" y="1148701"/>
                <a:ext cx="4035592" cy="756233"/>
              </a:xfrm>
              <a:prstGeom prst="rect">
                <a:avLst/>
              </a:prstGeom>
              <a:blipFill>
                <a:blip r:embed="rId2"/>
                <a:stretch>
                  <a:fillRect l="-20440" t="-118333" r="-1887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4">
            <a:extLst>
              <a:ext uri="{FF2B5EF4-FFF2-40B4-BE49-F238E27FC236}">
                <a16:creationId xmlns:a16="http://schemas.microsoft.com/office/drawing/2014/main" id="{1565BA03-1C78-DD10-ED8E-B400ED31B437}"/>
              </a:ext>
            </a:extLst>
          </p:cNvPr>
          <p:cNvSpPr/>
          <p:nvPr/>
        </p:nvSpPr>
        <p:spPr>
          <a:xfrm>
            <a:off x="1555971" y="2215750"/>
            <a:ext cx="718901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데이터 베이스 전체의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Variability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= Regression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 으로 설명이 된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Variability +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설명이 안된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variability</a:t>
            </a:r>
          </a:p>
        </p:txBody>
      </p:sp>
      <p:sp>
        <p:nvSpPr>
          <p:cNvPr id="30" name="직사각형 25">
            <a:extLst>
              <a:ext uri="{FF2B5EF4-FFF2-40B4-BE49-F238E27FC236}">
                <a16:creationId xmlns:a16="http://schemas.microsoft.com/office/drawing/2014/main" id="{AE3F4E81-835C-26DA-102A-F0F289ECACF7}"/>
              </a:ext>
            </a:extLst>
          </p:cNvPr>
          <p:cNvSpPr/>
          <p:nvPr/>
        </p:nvSpPr>
        <p:spPr>
          <a:xfrm>
            <a:off x="375041" y="348067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OLS =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O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rdinary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L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east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S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quares</a:t>
            </a:r>
          </a:p>
        </p:txBody>
      </p:sp>
      <p:sp>
        <p:nvSpPr>
          <p:cNvPr id="31" name="직사각형 26">
            <a:extLst>
              <a:ext uri="{FF2B5EF4-FFF2-40B4-BE49-F238E27FC236}">
                <a16:creationId xmlns:a16="http://schemas.microsoft.com/office/drawing/2014/main" id="{7D096BA3-7149-70F2-E74A-34803B5616D8}"/>
              </a:ext>
            </a:extLst>
          </p:cNvPr>
          <p:cNvSpPr/>
          <p:nvPr/>
        </p:nvSpPr>
        <p:spPr>
          <a:xfrm>
            <a:off x="816072" y="3803837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=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O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rdinary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L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east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SSE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290FC2-006F-62C8-25E2-BB9FBC442C58}"/>
                  </a:ext>
                </a:extLst>
              </p:cNvPr>
              <p:cNvSpPr txBox="1"/>
              <p:nvPr/>
            </p:nvSpPr>
            <p:spPr>
              <a:xfrm>
                <a:off x="2671378" y="4497664"/>
                <a:ext cx="403559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ko-KR" alt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kumimoji="0" lang="ko-KR" alt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0" lang="en-US" altLang="ko-K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⋀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kumimoji="0" lang="ko-KR" altLang="en-US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0" lang="en-US" altLang="ko-KR" sz="18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kumimoji="0" lang="ko-KR" altLang="en-US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</a:rPr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kumimoji="0" lang="ko-KR" altLang="en-US" sz="1800" b="0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290FC2-006F-62C8-25E2-BB9FBC44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378" y="4497664"/>
                <a:ext cx="4035592" cy="756233"/>
              </a:xfrm>
              <a:prstGeom prst="rect">
                <a:avLst/>
              </a:prstGeom>
              <a:blipFill>
                <a:blip r:embed="rId3"/>
                <a:stretch>
                  <a:fillRect l="-20440" t="-120000" r="-1887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직사각형 28">
            <a:extLst>
              <a:ext uri="{FF2B5EF4-FFF2-40B4-BE49-F238E27FC236}">
                <a16:creationId xmlns:a16="http://schemas.microsoft.com/office/drawing/2014/main" id="{B9BC3810-F192-8929-AAFE-CBF53251B40C}"/>
              </a:ext>
            </a:extLst>
          </p:cNvPr>
          <p:cNvSpPr/>
          <p:nvPr/>
        </p:nvSpPr>
        <p:spPr>
          <a:xfrm>
            <a:off x="5843846" y="4497139"/>
            <a:ext cx="673332" cy="756758"/>
          </a:xfrm>
          <a:prstGeom prst="rect">
            <a:avLst/>
          </a:prstGeom>
          <a:solidFill>
            <a:srgbClr val="ED7D31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4" name="직사각형 2">
            <a:extLst>
              <a:ext uri="{FF2B5EF4-FFF2-40B4-BE49-F238E27FC236}">
                <a16:creationId xmlns:a16="http://schemas.microsoft.com/office/drawing/2014/main" id="{518EA8FB-F78C-F070-2E1D-AA88885F785E}"/>
              </a:ext>
            </a:extLst>
          </p:cNvPr>
          <p:cNvSpPr/>
          <p:nvPr/>
        </p:nvSpPr>
        <p:spPr>
          <a:xfrm>
            <a:off x="5902036" y="5506897"/>
            <a:ext cx="38654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/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34" charset="-127"/>
              </a:rPr>
              <a:t>이 부분이 </a:t>
            </a: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34" charset="-127"/>
              </a:rPr>
              <a:t>0</a:t>
            </a:r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34" charset="-127"/>
              </a:rPr>
              <a:t>에 가까울 수록 </a:t>
            </a: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34" charset="-127"/>
              </a:rPr>
              <a:t>Regression</a:t>
            </a:r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34" charset="-127"/>
              </a:rPr>
              <a:t>은 잘 된 것임</a:t>
            </a:r>
            <a:endParaRPr lang="ko-KR" altLang="en-US" sz="1200" b="1" dirty="0">
              <a:solidFill>
                <a:prstClr val="black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732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6C07-13BD-73D5-04CA-EFCB97D4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C0BCC11E-0817-7CBC-7BB3-47C474B4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6965871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 w="3175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Arial" panose="020B0604020202020204" pitchFamily="34" charset="0"/>
              </a:rPr>
              <a:t>: Null Hypothesis, T-test, P value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23" name="직사각형 34">
            <a:extLst>
              <a:ext uri="{FF2B5EF4-FFF2-40B4-BE49-F238E27FC236}">
                <a16:creationId xmlns:a16="http://schemas.microsoft.com/office/drawing/2014/main" id="{E08684C0-AE34-1845-4419-866BB61C21D2}"/>
              </a:ext>
            </a:extLst>
          </p:cNvPr>
          <p:cNvSpPr/>
          <p:nvPr/>
        </p:nvSpPr>
        <p:spPr>
          <a:xfrm>
            <a:off x="333478" y="796437"/>
            <a:ext cx="852788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Null Hypothesis: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어떤 현상의 기존 가정 상태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4" name="표 36">
            <a:extLst>
              <a:ext uri="{FF2B5EF4-FFF2-40B4-BE49-F238E27FC236}">
                <a16:creationId xmlns:a16="http://schemas.microsoft.com/office/drawing/2014/main" id="{076B9CEB-0FD2-6B56-3699-A483CA06D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213685"/>
              </p:ext>
            </p:extLst>
          </p:nvPr>
        </p:nvGraphicFramePr>
        <p:xfrm>
          <a:off x="333478" y="1689916"/>
          <a:ext cx="11022094" cy="1478280"/>
        </p:xfrm>
        <a:graphic>
          <a:graphicData uri="http://schemas.openxmlformats.org/drawingml/2006/table">
            <a:tbl>
              <a:tblPr firstRow="1" bandRow="1"/>
              <a:tblGrid>
                <a:gridCol w="2558029">
                  <a:extLst>
                    <a:ext uri="{9D8B030D-6E8A-4147-A177-3AD203B41FA5}">
                      <a16:colId xmlns:a16="http://schemas.microsoft.com/office/drawing/2014/main" val="1348147916"/>
                    </a:ext>
                  </a:extLst>
                </a:gridCol>
                <a:gridCol w="4905636">
                  <a:extLst>
                    <a:ext uri="{9D8B030D-6E8A-4147-A177-3AD203B41FA5}">
                      <a16:colId xmlns:a16="http://schemas.microsoft.com/office/drawing/2014/main" val="377842188"/>
                    </a:ext>
                  </a:extLst>
                </a:gridCol>
                <a:gridCol w="3558429">
                  <a:extLst>
                    <a:ext uri="{9D8B030D-6E8A-4147-A177-3AD203B41FA5}">
                      <a16:colId xmlns:a16="http://schemas.microsoft.com/office/drawing/2014/main" val="1438826628"/>
                    </a:ext>
                  </a:extLst>
                </a:gridCol>
              </a:tblGrid>
              <a:tr h="359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800" dirty="0"/>
                        <a:t>상황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800" dirty="0"/>
                        <a:t>Null</a:t>
                      </a:r>
                      <a:r>
                        <a:rPr lang="en-US" altLang="ko-KR" sz="1800" baseline="0" dirty="0"/>
                        <a:t> Hypothesis</a:t>
                      </a:r>
                      <a:endParaRPr lang="ko-KR" altLang="en-US" sz="18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/>
                        <a:t>Alternative Hypothesis</a:t>
                      </a:r>
                      <a:endParaRPr lang="ko-KR" altLang="en-US" sz="18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07098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b="1" dirty="0"/>
                        <a:t>제품의 평균 정보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이 제품의 평균 무게는 </a:t>
                      </a:r>
                      <a:r>
                        <a:rPr lang="en-US" altLang="ko-KR" sz="1200" dirty="0"/>
                        <a:t>X </a:t>
                      </a:r>
                      <a:r>
                        <a:rPr lang="ko-KR" altLang="en-US" sz="1200" dirty="0"/>
                        <a:t>이다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평균 무게는 </a:t>
                      </a:r>
                      <a:r>
                        <a:rPr lang="en-US" altLang="ko-KR" sz="1200" dirty="0"/>
                        <a:t>X </a:t>
                      </a:r>
                      <a:r>
                        <a:rPr lang="ko-KR" altLang="en-US" sz="1200" dirty="0"/>
                        <a:t>보다 무겁거나 가볍다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3328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b="1" dirty="0"/>
                        <a:t>제품의 성능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이 제품은 감기 바이러스에 대해서 확실하게 효과가 </a:t>
                      </a:r>
                      <a:r>
                        <a:rPr lang="ko-KR" altLang="en-US" sz="1200" b="1" dirty="0"/>
                        <a:t>없다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효과가 </a:t>
                      </a:r>
                      <a:r>
                        <a:rPr lang="ko-KR" altLang="en-US" sz="1200" b="1" dirty="0"/>
                        <a:t>있다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6619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b="1" dirty="0"/>
                        <a:t>두</a:t>
                      </a:r>
                      <a:r>
                        <a:rPr lang="ko-KR" altLang="en-US" sz="1200" b="1" baseline="0" dirty="0"/>
                        <a:t> 개 이상의 변수 상호 관계</a:t>
                      </a:r>
                      <a:endParaRPr lang="ko-KR" altLang="en-US" sz="1200" b="1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이 변수들은 원래 아무 관계가 없다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200" dirty="0"/>
                        <a:t>상관이 있다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75727"/>
                  </a:ext>
                </a:extLst>
              </a:tr>
            </a:tbl>
          </a:graphicData>
        </a:graphic>
      </p:graphicFrame>
      <p:sp>
        <p:nvSpPr>
          <p:cNvPr id="25" name="직사각형 37">
            <a:extLst>
              <a:ext uri="{FF2B5EF4-FFF2-40B4-BE49-F238E27FC236}">
                <a16:creationId xmlns:a16="http://schemas.microsoft.com/office/drawing/2014/main" id="{4B933A5F-9949-51B2-067A-B8574B1F1BBF}"/>
              </a:ext>
            </a:extLst>
          </p:cNvPr>
          <p:cNvSpPr/>
          <p:nvPr/>
        </p:nvSpPr>
        <p:spPr>
          <a:xfrm>
            <a:off x="333478" y="1241752"/>
            <a:ext cx="852788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Alternative Hypothesis: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Null hypothesis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가 가정한 것을 부인한 상태</a:t>
            </a:r>
            <a:endParaRPr lang="en-US" altLang="ko-KR" sz="16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40">
            <a:extLst>
              <a:ext uri="{FF2B5EF4-FFF2-40B4-BE49-F238E27FC236}">
                <a16:creationId xmlns:a16="http://schemas.microsoft.com/office/drawing/2014/main" id="{DEB7CE27-8926-C652-80EE-2CF1B0284A6D}"/>
              </a:ext>
            </a:extLst>
          </p:cNvPr>
          <p:cNvSpPr/>
          <p:nvPr/>
        </p:nvSpPr>
        <p:spPr>
          <a:xfrm>
            <a:off x="333478" y="3285841"/>
            <a:ext cx="11022094" cy="102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P value: </a:t>
            </a:r>
            <a:r>
              <a:rPr lang="en-US" sz="1400" b="1" dirty="0">
                <a:latin typeface="+mn-ea"/>
              </a:rPr>
              <a:t>P-value</a:t>
            </a:r>
            <a:r>
              <a:rPr lang="ko-KR" altLang="en-US" sz="1400" b="1" dirty="0">
                <a:latin typeface="+mn-ea"/>
              </a:rPr>
              <a:t>란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en-US" sz="1400" b="1" dirty="0">
                <a:latin typeface="+mn-ea"/>
              </a:rPr>
              <a:t>Null hypothesis</a:t>
            </a:r>
            <a:r>
              <a:rPr lang="ko-KR" altLang="en-US" sz="1400" b="1" dirty="0">
                <a:latin typeface="+mn-ea"/>
              </a:rPr>
              <a:t>가 참이라고 가정했을 때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관측된 통계량보다 같거나 더 극단적인 결과가 나올 확률이다</a:t>
            </a:r>
            <a:r>
              <a:rPr lang="en-US" altLang="ko-KR" sz="1400" b="1" dirty="0">
                <a:latin typeface="+mn-ea"/>
              </a:rPr>
              <a:t>.</a:t>
            </a:r>
            <a:r>
              <a:rPr lang="ko-KR" altLang="en-US" sz="1400" b="1" dirty="0">
                <a:latin typeface="+mn-ea"/>
              </a:rPr>
              <a:t> </a:t>
            </a:r>
            <a:br>
              <a:rPr lang="en-US" altLang="ko-KR" sz="1400" b="1" dirty="0">
                <a:latin typeface="+mn-ea"/>
              </a:rPr>
            </a:br>
            <a:r>
              <a:rPr lang="en-US" sz="1400" dirty="0">
                <a:latin typeface="+mn-ea"/>
              </a:rPr>
              <a:t>p-value</a:t>
            </a:r>
            <a:r>
              <a:rPr lang="ko-KR" altLang="en-US" sz="1400" dirty="0">
                <a:latin typeface="+mn-ea"/>
              </a:rPr>
              <a:t>가 유의수준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: 0.05)</a:t>
            </a:r>
            <a:r>
              <a:rPr lang="ko-KR" altLang="en-US" sz="1400" dirty="0">
                <a:latin typeface="+mn-ea"/>
              </a:rPr>
              <a:t>보다 작으면 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sz="1400" b="1" dirty="0">
                <a:latin typeface="+mn-ea"/>
              </a:rPr>
              <a:t>Null hypothesis</a:t>
            </a:r>
            <a:r>
              <a:rPr lang="ko-KR" altLang="en-US" sz="1400" b="1" dirty="0" err="1">
                <a:latin typeface="+mn-ea"/>
              </a:rPr>
              <a:t>를</a:t>
            </a:r>
            <a:r>
              <a:rPr lang="ko-KR" altLang="en-US" sz="1400" b="1" dirty="0">
                <a:latin typeface="+mn-ea"/>
              </a:rPr>
              <a:t> 기각</a:t>
            </a:r>
            <a:r>
              <a:rPr lang="ko-KR" altLang="en-US" sz="1400" dirty="0">
                <a:latin typeface="+mn-ea"/>
              </a:rPr>
              <a:t>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크면 </a:t>
            </a:r>
            <a:r>
              <a:rPr lang="ko-KR" altLang="en-US" sz="1400" b="1" dirty="0">
                <a:latin typeface="+mn-ea"/>
              </a:rPr>
              <a:t>기각하지 못한다</a:t>
            </a:r>
            <a:r>
              <a:rPr lang="en-US" altLang="ko-KR" sz="1400" b="1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  <a:p>
            <a:endParaRPr lang="ko-KR" altLang="en-US" sz="1400" dirty="0">
              <a:latin typeface="+mn-ea"/>
            </a:endParaRP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endParaRPr lang="en-US" altLang="ko-KR" sz="1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직사각형 41">
            <a:extLst>
              <a:ext uri="{FF2B5EF4-FFF2-40B4-BE49-F238E27FC236}">
                <a16:creationId xmlns:a16="http://schemas.microsoft.com/office/drawing/2014/main" id="{98494CE6-4CCC-59EF-0DEB-291CF0BDD479}"/>
              </a:ext>
            </a:extLst>
          </p:cNvPr>
          <p:cNvSpPr/>
          <p:nvPr/>
        </p:nvSpPr>
        <p:spPr>
          <a:xfrm>
            <a:off x="333478" y="3912333"/>
            <a:ext cx="1172384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e.g.1 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초컬릿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공장에서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개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랜덤하게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추출해서 제품의 평균 무게를 재어 보니 평균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990g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 때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SD(Standard Deviation)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12.5g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 나왔다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그런데 실은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1000g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 공장의 수많은 전체 제품의 평균이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1000g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일 것 같은 이상한 느낌이 들었다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(= two-sided null hypothesis)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082A72-6EDA-6CC5-DBF8-03CDCDDB9C83}"/>
                  </a:ext>
                </a:extLst>
              </p:cNvPr>
              <p:cNvSpPr txBox="1"/>
              <p:nvPr/>
            </p:nvSpPr>
            <p:spPr>
              <a:xfrm>
                <a:off x="1109749" y="5548744"/>
                <a:ext cx="1193467" cy="76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0" lang="en-US" altLang="ko-K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ko-KR" alt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ko-KR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US" altLang="ko-KR" sz="18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082A72-6EDA-6CC5-DBF8-03CDCDDB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749" y="5548744"/>
                <a:ext cx="1193467" cy="760849"/>
              </a:xfrm>
              <a:prstGeom prst="rect">
                <a:avLst/>
              </a:prstGeom>
              <a:blipFill>
                <a:blip r:embed="rId2"/>
                <a:stretch>
                  <a:fillRect l="-3158" t="-27869" r="-4211" b="-10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직사각형 44">
            <a:extLst>
              <a:ext uri="{FF2B5EF4-FFF2-40B4-BE49-F238E27FC236}">
                <a16:creationId xmlns:a16="http://schemas.microsoft.com/office/drawing/2014/main" id="{18F7C785-5CEF-0DD2-AE8B-EF0D34649EBA}"/>
              </a:ext>
            </a:extLst>
          </p:cNvPr>
          <p:cNvSpPr/>
          <p:nvPr/>
        </p:nvSpPr>
        <p:spPr>
          <a:xfrm>
            <a:off x="1504602" y="5548743"/>
            <a:ext cx="274322" cy="253541"/>
          </a:xfrm>
          <a:prstGeom prst="rect">
            <a:avLst/>
          </a:prstGeom>
          <a:solidFill>
            <a:srgbClr val="ED7D31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7" name="직사각형 45">
            <a:extLst>
              <a:ext uri="{FF2B5EF4-FFF2-40B4-BE49-F238E27FC236}">
                <a16:creationId xmlns:a16="http://schemas.microsoft.com/office/drawing/2014/main" id="{AEF2B21D-E993-5EC9-39ED-692DF68F505C}"/>
              </a:ext>
            </a:extLst>
          </p:cNvPr>
          <p:cNvSpPr/>
          <p:nvPr/>
        </p:nvSpPr>
        <p:spPr>
          <a:xfrm>
            <a:off x="2028894" y="5548743"/>
            <a:ext cx="274322" cy="253541"/>
          </a:xfrm>
          <a:prstGeom prst="rect">
            <a:avLst/>
          </a:prstGeom>
          <a:solidFill>
            <a:srgbClr val="4472C4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8" name="직사각형 46">
            <a:extLst>
              <a:ext uri="{FF2B5EF4-FFF2-40B4-BE49-F238E27FC236}">
                <a16:creationId xmlns:a16="http://schemas.microsoft.com/office/drawing/2014/main" id="{C0D75666-6ACC-E3DA-3FD0-BA0DD528D934}"/>
              </a:ext>
            </a:extLst>
          </p:cNvPr>
          <p:cNvSpPr/>
          <p:nvPr/>
        </p:nvSpPr>
        <p:spPr>
          <a:xfrm>
            <a:off x="1504601" y="5877099"/>
            <a:ext cx="382387" cy="275934"/>
          </a:xfrm>
          <a:prstGeom prst="rect">
            <a:avLst/>
          </a:prstGeom>
          <a:solidFill>
            <a:srgbClr val="00B050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9" name="직사각형 47">
            <a:extLst>
              <a:ext uri="{FF2B5EF4-FFF2-40B4-BE49-F238E27FC236}">
                <a16:creationId xmlns:a16="http://schemas.microsoft.com/office/drawing/2014/main" id="{43068327-8183-AD73-9205-160D4362BE1F}"/>
              </a:ext>
            </a:extLst>
          </p:cNvPr>
          <p:cNvSpPr/>
          <p:nvPr/>
        </p:nvSpPr>
        <p:spPr>
          <a:xfrm>
            <a:off x="2078181" y="6128093"/>
            <a:ext cx="274322" cy="253541"/>
          </a:xfrm>
          <a:prstGeom prst="rect">
            <a:avLst/>
          </a:prstGeom>
          <a:solidFill>
            <a:srgbClr val="FFC000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0" name="직사각형 48">
            <a:extLst>
              <a:ext uri="{FF2B5EF4-FFF2-40B4-BE49-F238E27FC236}">
                <a16:creationId xmlns:a16="http://schemas.microsoft.com/office/drawing/2014/main" id="{F6D0BC1E-44A3-705D-DD8E-57EAD699FDD9}"/>
              </a:ext>
            </a:extLst>
          </p:cNvPr>
          <p:cNvSpPr/>
          <p:nvPr/>
        </p:nvSpPr>
        <p:spPr>
          <a:xfrm>
            <a:off x="2698068" y="6420591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</a:rPr>
              <a:t>12.5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직사각형 49">
            <a:extLst>
              <a:ext uri="{FF2B5EF4-FFF2-40B4-BE49-F238E27FC236}">
                <a16:creationId xmlns:a16="http://schemas.microsoft.com/office/drawing/2014/main" id="{AC0F35C1-4EA3-8C21-FDD1-618315A073E1}"/>
              </a:ext>
            </a:extLst>
          </p:cNvPr>
          <p:cNvSpPr/>
          <p:nvPr/>
        </p:nvSpPr>
        <p:spPr>
          <a:xfrm>
            <a:off x="2698068" y="6070197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</a:rPr>
              <a:t>30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직사각형 50">
            <a:extLst>
              <a:ext uri="{FF2B5EF4-FFF2-40B4-BE49-F238E27FC236}">
                <a16:creationId xmlns:a16="http://schemas.microsoft.com/office/drawing/2014/main" id="{0AEDA800-9C14-6555-0225-D9A60E27FA00}"/>
              </a:ext>
            </a:extLst>
          </p:cNvPr>
          <p:cNvSpPr/>
          <p:nvPr/>
        </p:nvSpPr>
        <p:spPr>
          <a:xfrm>
            <a:off x="2698068" y="549263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</a:rPr>
              <a:t>1000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직사각형 51">
            <a:extLst>
              <a:ext uri="{FF2B5EF4-FFF2-40B4-BE49-F238E27FC236}">
                <a16:creationId xmlns:a16="http://schemas.microsoft.com/office/drawing/2014/main" id="{0B32D9C3-D070-FC7B-A05E-2CDBD4C4A3CD}"/>
              </a:ext>
            </a:extLst>
          </p:cNvPr>
          <p:cNvSpPr/>
          <p:nvPr/>
        </p:nvSpPr>
        <p:spPr>
          <a:xfrm>
            <a:off x="2698068" y="5123302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</a:rPr>
              <a:t>990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44" name="구부러진 연결선 53">
            <a:extLst>
              <a:ext uri="{FF2B5EF4-FFF2-40B4-BE49-F238E27FC236}">
                <a16:creationId xmlns:a16="http://schemas.microsoft.com/office/drawing/2014/main" id="{5EE22ADE-D061-6940-62BA-E6267521A0D7}"/>
              </a:ext>
            </a:extLst>
          </p:cNvPr>
          <p:cNvCxnSpPr>
            <a:stCxn id="43" idx="1"/>
            <a:endCxn id="36" idx="0"/>
          </p:cNvCxnSpPr>
          <p:nvPr/>
        </p:nvCxnSpPr>
        <p:spPr>
          <a:xfrm rot="10800000" flipV="1">
            <a:off x="1641764" y="5307967"/>
            <a:ext cx="1056305" cy="240775"/>
          </a:xfrm>
          <a:prstGeom prst="curved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" name="구부러진 연결선 55">
            <a:extLst>
              <a:ext uri="{FF2B5EF4-FFF2-40B4-BE49-F238E27FC236}">
                <a16:creationId xmlns:a16="http://schemas.microsoft.com/office/drawing/2014/main" id="{6FC69294-B633-7482-36D2-EEE8AA63F07B}"/>
              </a:ext>
            </a:extLst>
          </p:cNvPr>
          <p:cNvCxnSpPr>
            <a:stCxn id="42" idx="1"/>
            <a:endCxn id="37" idx="3"/>
          </p:cNvCxnSpPr>
          <p:nvPr/>
        </p:nvCxnSpPr>
        <p:spPr>
          <a:xfrm rot="10800000">
            <a:off x="2303216" y="5675514"/>
            <a:ext cx="394852" cy="1786"/>
          </a:xfrm>
          <a:prstGeom prst="curvedConnector3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구부러진 연결선 57">
            <a:extLst>
              <a:ext uri="{FF2B5EF4-FFF2-40B4-BE49-F238E27FC236}">
                <a16:creationId xmlns:a16="http://schemas.microsoft.com/office/drawing/2014/main" id="{2F584B7D-531A-231D-F162-3126E3A1229C}"/>
              </a:ext>
            </a:extLst>
          </p:cNvPr>
          <p:cNvCxnSpPr>
            <a:stCxn id="41" idx="1"/>
            <a:endCxn id="39" idx="3"/>
          </p:cNvCxnSpPr>
          <p:nvPr/>
        </p:nvCxnSpPr>
        <p:spPr>
          <a:xfrm rot="10800000" flipV="1">
            <a:off x="2352504" y="6254862"/>
            <a:ext cx="345565" cy="1"/>
          </a:xfrm>
          <a:prstGeom prst="curvedConnector3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구부러진 연결선 59">
            <a:extLst>
              <a:ext uri="{FF2B5EF4-FFF2-40B4-BE49-F238E27FC236}">
                <a16:creationId xmlns:a16="http://schemas.microsoft.com/office/drawing/2014/main" id="{F432DC0E-C86F-7FCE-FFAE-FE2C5C64DCB4}"/>
              </a:ext>
            </a:extLst>
          </p:cNvPr>
          <p:cNvCxnSpPr>
            <a:stCxn id="40" idx="1"/>
            <a:endCxn id="38" idx="2"/>
          </p:cNvCxnSpPr>
          <p:nvPr/>
        </p:nvCxnSpPr>
        <p:spPr>
          <a:xfrm rot="10800000">
            <a:off x="1695796" y="6153033"/>
            <a:ext cx="1002273" cy="452224"/>
          </a:xfrm>
          <a:prstGeom prst="curved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62">
                <a:extLst>
                  <a:ext uri="{FF2B5EF4-FFF2-40B4-BE49-F238E27FC236}">
                    <a16:creationId xmlns:a16="http://schemas.microsoft.com/office/drawing/2014/main" id="{A332640E-E5EF-385A-15C9-E0766715BFED}"/>
                  </a:ext>
                </a:extLst>
              </p:cNvPr>
              <p:cNvSpPr/>
              <p:nvPr/>
            </p:nvSpPr>
            <p:spPr>
              <a:xfrm>
                <a:off x="4218766" y="5744502"/>
                <a:ext cx="13701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=−4.318</m:t>
                      </m:r>
                    </m:oMath>
                  </m:oMathPara>
                </a14:m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48" name="직사각형 62">
                <a:extLst>
                  <a:ext uri="{FF2B5EF4-FFF2-40B4-BE49-F238E27FC236}">
                    <a16:creationId xmlns:a16="http://schemas.microsoft.com/office/drawing/2014/main" id="{A332640E-E5EF-385A-15C9-E0766715B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766" y="5744502"/>
                <a:ext cx="13701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직사각형 2">
            <a:extLst>
              <a:ext uri="{FF2B5EF4-FFF2-40B4-BE49-F238E27FC236}">
                <a16:creationId xmlns:a16="http://schemas.microsoft.com/office/drawing/2014/main" id="{6BBBD6FD-E4E3-0310-56EE-57AEE8C0016F}"/>
              </a:ext>
            </a:extLst>
          </p:cNvPr>
          <p:cNvSpPr/>
          <p:nvPr/>
        </p:nvSpPr>
        <p:spPr>
          <a:xfrm>
            <a:off x="4226166" y="5250186"/>
            <a:ext cx="317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</a:rPr>
              <a:t>90% confidence level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</a:rPr>
              <a:t>로 추정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07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FCC7-26D7-2D84-4852-098F9AEB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7635CA9E-C814-217A-48E8-8577E95FC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6965871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 w="3175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Arial" panose="020B0604020202020204" pitchFamily="34" charset="0"/>
              </a:rPr>
              <a:t>: Null Hypothesis, T-test, P value</a:t>
            </a:r>
            <a:endParaRPr lang="en-US" altLang="ko-KR" sz="2400" b="1" dirty="0">
              <a:latin typeface="+mn-ea"/>
              <a:ea typeface="+mn-ea"/>
            </a:endParaRPr>
          </a:p>
        </p:txBody>
      </p:sp>
      <p:pic>
        <p:nvPicPr>
          <p:cNvPr id="2" name="Picture 2" descr="Image result for t test table">
            <a:extLst>
              <a:ext uri="{FF2B5EF4-FFF2-40B4-BE49-F238E27FC236}">
                <a16:creationId xmlns:a16="http://schemas.microsoft.com/office/drawing/2014/main" id="{2CE7090D-9129-AE5B-FB15-6D3E5AD35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6" y="779697"/>
            <a:ext cx="4215867" cy="588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19">
            <a:extLst>
              <a:ext uri="{FF2B5EF4-FFF2-40B4-BE49-F238E27FC236}">
                <a16:creationId xmlns:a16="http://schemas.microsoft.com/office/drawing/2014/main" id="{0637CB23-9F4E-27EA-9373-226365835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973" y="1126404"/>
            <a:ext cx="3371620" cy="2426228"/>
          </a:xfrm>
          <a:prstGeom prst="rect">
            <a:avLst/>
          </a:prstGeom>
        </p:spPr>
      </p:pic>
      <p:sp>
        <p:nvSpPr>
          <p:cNvPr id="4" name="직사각형 22">
            <a:extLst>
              <a:ext uri="{FF2B5EF4-FFF2-40B4-BE49-F238E27FC236}">
                <a16:creationId xmlns:a16="http://schemas.microsoft.com/office/drawing/2014/main" id="{2E7FEEB1-9BC5-2A66-7DF0-340F913841E2}"/>
              </a:ext>
            </a:extLst>
          </p:cNvPr>
          <p:cNvSpPr/>
          <p:nvPr/>
        </p:nvSpPr>
        <p:spPr>
          <a:xfrm>
            <a:off x="1894088" y="5004261"/>
            <a:ext cx="325409" cy="133004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23">
            <a:extLst>
              <a:ext uri="{FF2B5EF4-FFF2-40B4-BE49-F238E27FC236}">
                <a16:creationId xmlns:a16="http://schemas.microsoft.com/office/drawing/2014/main" id="{9261A9D2-103E-43DB-682D-650FCBF1D30E}"/>
              </a:ext>
            </a:extLst>
          </p:cNvPr>
          <p:cNvSpPr/>
          <p:nvPr/>
        </p:nvSpPr>
        <p:spPr>
          <a:xfrm>
            <a:off x="1894088" y="1149927"/>
            <a:ext cx="325409" cy="133004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5">
            <a:extLst>
              <a:ext uri="{FF2B5EF4-FFF2-40B4-BE49-F238E27FC236}">
                <a16:creationId xmlns:a16="http://schemas.microsoft.com/office/drawing/2014/main" id="{CDECCD82-917E-2552-BB08-FB6B2EF33710}"/>
              </a:ext>
            </a:extLst>
          </p:cNvPr>
          <p:cNvCxnSpPr/>
          <p:nvPr/>
        </p:nvCxnSpPr>
        <p:spPr>
          <a:xfrm>
            <a:off x="5493352" y="3349351"/>
            <a:ext cx="43558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26">
            <a:extLst>
              <a:ext uri="{FF2B5EF4-FFF2-40B4-BE49-F238E27FC236}">
                <a16:creationId xmlns:a16="http://schemas.microsoft.com/office/drawing/2014/main" id="{5B2B23D6-E9B4-5DB1-4D34-17526A6B7769}"/>
              </a:ext>
            </a:extLst>
          </p:cNvPr>
          <p:cNvSpPr/>
          <p:nvPr/>
        </p:nvSpPr>
        <p:spPr>
          <a:xfrm>
            <a:off x="5493352" y="2951607"/>
            <a:ext cx="1206805" cy="389431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28">
            <a:extLst>
              <a:ext uri="{FF2B5EF4-FFF2-40B4-BE49-F238E27FC236}">
                <a16:creationId xmlns:a16="http://schemas.microsoft.com/office/drawing/2014/main" id="{0608F512-1CDF-A497-B906-2CB5B48FE39D}"/>
              </a:ext>
            </a:extLst>
          </p:cNvPr>
          <p:cNvSpPr/>
          <p:nvPr/>
        </p:nvSpPr>
        <p:spPr>
          <a:xfrm>
            <a:off x="6068452" y="668905"/>
            <a:ext cx="303302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양쪽 각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5% =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각 꼬리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2.5%</a:t>
            </a:r>
          </a:p>
        </p:txBody>
      </p:sp>
      <p:sp>
        <p:nvSpPr>
          <p:cNvPr id="9" name="직사각형 2">
            <a:extLst>
              <a:ext uri="{FF2B5EF4-FFF2-40B4-BE49-F238E27FC236}">
                <a16:creationId xmlns:a16="http://schemas.microsoft.com/office/drawing/2014/main" id="{DA7C4327-E130-075A-EA32-F9BCF791A05F}"/>
              </a:ext>
            </a:extLst>
          </p:cNvPr>
          <p:cNvSpPr/>
          <p:nvPr/>
        </p:nvSpPr>
        <p:spPr>
          <a:xfrm>
            <a:off x="8569712" y="1017859"/>
            <a:ext cx="179307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latin typeface="+mn-ea"/>
              </a:rPr>
              <a:t>제품의 평균 무게가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en-US" altLang="ko-KR" sz="1050" dirty="0">
                <a:latin typeface="+mn-ea"/>
              </a:rPr>
              <a:t>Null hypothesis</a:t>
            </a:r>
            <a:r>
              <a:rPr lang="ko-KR" altLang="en-US" sz="1050" dirty="0">
                <a:latin typeface="+mn-ea"/>
              </a:rPr>
              <a:t>인 </a:t>
            </a:r>
            <a:r>
              <a:rPr lang="en-US" altLang="ko-KR" sz="1050" dirty="0">
                <a:latin typeface="+mn-ea"/>
              </a:rPr>
              <a:t>1000g</a:t>
            </a:r>
            <a:r>
              <a:rPr lang="ko-KR" altLang="en-US" sz="1050" dirty="0">
                <a:latin typeface="+mn-ea"/>
              </a:rPr>
              <a:t>이 맞을 확률 부분</a:t>
            </a:r>
          </a:p>
        </p:txBody>
      </p:sp>
      <p:cxnSp>
        <p:nvCxnSpPr>
          <p:cNvPr id="10" name="꺾인 연결선 7">
            <a:extLst>
              <a:ext uri="{FF2B5EF4-FFF2-40B4-BE49-F238E27FC236}">
                <a16:creationId xmlns:a16="http://schemas.microsoft.com/office/drawing/2014/main" id="{EFA420CA-7EE3-0E93-543E-AABADAABDEE8}"/>
              </a:ext>
            </a:extLst>
          </p:cNvPr>
          <p:cNvCxnSpPr>
            <a:stCxn id="8" idx="1"/>
            <a:endCxn id="5" idx="0"/>
          </p:cNvCxnSpPr>
          <p:nvPr/>
        </p:nvCxnSpPr>
        <p:spPr>
          <a:xfrm rot="10800000" flipV="1">
            <a:off x="2056794" y="830487"/>
            <a:ext cx="4011659" cy="3194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38">
            <a:extLst>
              <a:ext uri="{FF2B5EF4-FFF2-40B4-BE49-F238E27FC236}">
                <a16:creationId xmlns:a16="http://schemas.microsoft.com/office/drawing/2014/main" id="{745C4F76-EF24-3703-C87C-F43694C419AF}"/>
              </a:ext>
            </a:extLst>
          </p:cNvPr>
          <p:cNvSpPr/>
          <p:nvPr/>
        </p:nvSpPr>
        <p:spPr>
          <a:xfrm>
            <a:off x="4593057" y="5707202"/>
            <a:ext cx="303302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DoF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=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제품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- 1</a:t>
            </a:r>
          </a:p>
        </p:txBody>
      </p:sp>
      <p:cxnSp>
        <p:nvCxnSpPr>
          <p:cNvPr id="12" name="꺾인 연결선 39">
            <a:extLst>
              <a:ext uri="{FF2B5EF4-FFF2-40B4-BE49-F238E27FC236}">
                <a16:creationId xmlns:a16="http://schemas.microsoft.com/office/drawing/2014/main" id="{1B84710D-E697-FE2A-628F-160B5EC22110}"/>
              </a:ext>
            </a:extLst>
          </p:cNvPr>
          <p:cNvCxnSpPr>
            <a:stCxn id="11" idx="1"/>
            <a:endCxn id="33" idx="2"/>
          </p:cNvCxnSpPr>
          <p:nvPr/>
        </p:nvCxnSpPr>
        <p:spPr>
          <a:xfrm rot="10800000">
            <a:off x="430267" y="5140037"/>
            <a:ext cx="4162790" cy="7287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7">
            <a:extLst>
              <a:ext uri="{FF2B5EF4-FFF2-40B4-BE49-F238E27FC236}">
                <a16:creationId xmlns:a16="http://schemas.microsoft.com/office/drawing/2014/main" id="{9CAE338E-78A2-9CA0-3AA7-9B08F94EF8D5}"/>
              </a:ext>
            </a:extLst>
          </p:cNvPr>
          <p:cNvCxnSpPr/>
          <p:nvPr/>
        </p:nvCxnSpPr>
        <p:spPr>
          <a:xfrm>
            <a:off x="5654485" y="2788636"/>
            <a:ext cx="0" cy="419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52">
                <a:extLst>
                  <a:ext uri="{FF2B5EF4-FFF2-40B4-BE49-F238E27FC236}">
                    <a16:creationId xmlns:a16="http://schemas.microsoft.com/office/drawing/2014/main" id="{0B0896C5-F5CE-BAB4-87C5-20D88381E732}"/>
                  </a:ext>
                </a:extLst>
              </p:cNvPr>
              <p:cNvSpPr/>
              <p:nvPr/>
            </p:nvSpPr>
            <p:spPr>
              <a:xfrm>
                <a:off x="4533072" y="1455674"/>
                <a:ext cx="14462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𝟑𝟏𝟖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" name="직사각형 52">
                <a:extLst>
                  <a:ext uri="{FF2B5EF4-FFF2-40B4-BE49-F238E27FC236}">
                    <a16:creationId xmlns:a16="http://schemas.microsoft.com/office/drawing/2014/main" id="{0B0896C5-F5CE-BAB4-87C5-20D88381E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072" y="1455674"/>
                <a:ext cx="14462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54">
            <a:extLst>
              <a:ext uri="{FF2B5EF4-FFF2-40B4-BE49-F238E27FC236}">
                <a16:creationId xmlns:a16="http://schemas.microsoft.com/office/drawing/2014/main" id="{DC6AAFD2-C8C4-5135-E31A-C758FA291B78}"/>
              </a:ext>
            </a:extLst>
          </p:cNvPr>
          <p:cNvSpPr/>
          <p:nvPr/>
        </p:nvSpPr>
        <p:spPr>
          <a:xfrm>
            <a:off x="8609040" y="2960532"/>
            <a:ext cx="1240181" cy="389431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31">
            <a:extLst>
              <a:ext uri="{FF2B5EF4-FFF2-40B4-BE49-F238E27FC236}">
                <a16:creationId xmlns:a16="http://schemas.microsoft.com/office/drawing/2014/main" id="{829A689A-EF72-3BBD-474B-DC6CD2DC8A78}"/>
              </a:ext>
            </a:extLst>
          </p:cNvPr>
          <p:cNvSpPr/>
          <p:nvPr/>
        </p:nvSpPr>
        <p:spPr>
          <a:xfrm>
            <a:off x="7024604" y="2513024"/>
            <a:ext cx="8354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t=-1.699</a:t>
            </a:r>
            <a:r>
              <a:rPr lang="ko-KR" altLang="en-US" sz="1200" dirty="0">
                <a:latin typeface="+mn-ea"/>
              </a:rPr>
              <a:t> </a:t>
            </a:r>
            <a:endParaRPr lang="ko-KR" altLang="en-US" sz="1200" dirty="0"/>
          </a:p>
        </p:txBody>
      </p:sp>
      <p:cxnSp>
        <p:nvCxnSpPr>
          <p:cNvPr id="18" name="구부러진 연결선 33">
            <a:extLst>
              <a:ext uri="{FF2B5EF4-FFF2-40B4-BE49-F238E27FC236}">
                <a16:creationId xmlns:a16="http://schemas.microsoft.com/office/drawing/2014/main" id="{4998C5D8-92AE-ED9D-0582-E6BB400C3A12}"/>
              </a:ext>
            </a:extLst>
          </p:cNvPr>
          <p:cNvCxnSpPr>
            <a:stCxn id="17" idx="2"/>
            <a:endCxn id="7" idx="3"/>
          </p:cNvCxnSpPr>
          <p:nvPr/>
        </p:nvCxnSpPr>
        <p:spPr>
          <a:xfrm rot="5400000">
            <a:off x="6893102" y="2597078"/>
            <a:ext cx="356300" cy="7421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58">
            <a:extLst>
              <a:ext uri="{FF2B5EF4-FFF2-40B4-BE49-F238E27FC236}">
                <a16:creationId xmlns:a16="http://schemas.microsoft.com/office/drawing/2014/main" id="{5A2E798C-6FE3-100E-9B7C-E60A4ED8BCE5}"/>
              </a:ext>
            </a:extLst>
          </p:cNvPr>
          <p:cNvCxnSpPr/>
          <p:nvPr/>
        </p:nvCxnSpPr>
        <p:spPr>
          <a:xfrm>
            <a:off x="6700157" y="2651523"/>
            <a:ext cx="0" cy="69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65">
            <a:extLst>
              <a:ext uri="{FF2B5EF4-FFF2-40B4-BE49-F238E27FC236}">
                <a16:creationId xmlns:a16="http://schemas.microsoft.com/office/drawing/2014/main" id="{AD5BA3A5-4AFF-13FB-19D8-B52932499D22}"/>
              </a:ext>
            </a:extLst>
          </p:cNvPr>
          <p:cNvSpPr/>
          <p:nvPr/>
        </p:nvSpPr>
        <p:spPr>
          <a:xfrm>
            <a:off x="4303913" y="2023546"/>
            <a:ext cx="212362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latin typeface="+mn-ea"/>
              </a:rPr>
              <a:t>제품의 평균 무게가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en-US" altLang="ko-KR" sz="1050" dirty="0">
                <a:latin typeface="+mn-ea"/>
              </a:rPr>
              <a:t>Null hypothesis</a:t>
            </a:r>
            <a:r>
              <a:rPr lang="ko-KR" altLang="en-US" sz="1050" dirty="0">
                <a:latin typeface="+mn-ea"/>
              </a:rPr>
              <a:t>인 </a:t>
            </a:r>
            <a:r>
              <a:rPr lang="en-US" altLang="ko-KR" sz="1050" dirty="0">
                <a:latin typeface="+mn-ea"/>
              </a:rPr>
              <a:t>1000g</a:t>
            </a:r>
            <a:r>
              <a:rPr lang="ko-KR" altLang="en-US" sz="1050" dirty="0">
                <a:latin typeface="+mn-ea"/>
              </a:rPr>
              <a:t> 보다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ko-KR" altLang="en-US" sz="1050" dirty="0">
                <a:latin typeface="+mn-ea"/>
              </a:rPr>
              <a:t>낮을 확률 부분</a:t>
            </a:r>
          </a:p>
        </p:txBody>
      </p:sp>
      <p:sp>
        <p:nvSpPr>
          <p:cNvPr id="21" name="직사각형 66">
            <a:extLst>
              <a:ext uri="{FF2B5EF4-FFF2-40B4-BE49-F238E27FC236}">
                <a16:creationId xmlns:a16="http://schemas.microsoft.com/office/drawing/2014/main" id="{41A3D751-03F8-30FD-060C-8415EBF53722}"/>
              </a:ext>
            </a:extLst>
          </p:cNvPr>
          <p:cNvSpPr/>
          <p:nvPr/>
        </p:nvSpPr>
        <p:spPr>
          <a:xfrm>
            <a:off x="9593907" y="1888994"/>
            <a:ext cx="212362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latin typeface="+mn-ea"/>
              </a:rPr>
              <a:t>제품의 평균 무게가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en-US" altLang="ko-KR" sz="1050" dirty="0">
                <a:latin typeface="+mn-ea"/>
              </a:rPr>
              <a:t>Null hypothesis</a:t>
            </a:r>
            <a:r>
              <a:rPr lang="ko-KR" altLang="en-US" sz="1050" dirty="0">
                <a:latin typeface="+mn-ea"/>
              </a:rPr>
              <a:t>인 </a:t>
            </a:r>
            <a:r>
              <a:rPr lang="en-US" altLang="ko-KR" sz="1050" dirty="0">
                <a:latin typeface="+mn-ea"/>
              </a:rPr>
              <a:t>1000g</a:t>
            </a:r>
            <a:r>
              <a:rPr lang="ko-KR" altLang="en-US" sz="1050" dirty="0">
                <a:latin typeface="+mn-ea"/>
              </a:rPr>
              <a:t> 보다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ko-KR" altLang="en-US" sz="1050" dirty="0">
                <a:latin typeface="+mn-ea"/>
              </a:rPr>
              <a:t>클 확률 부분</a:t>
            </a:r>
          </a:p>
        </p:txBody>
      </p:sp>
      <p:cxnSp>
        <p:nvCxnSpPr>
          <p:cNvPr id="22" name="구부러진 연결선 73">
            <a:extLst>
              <a:ext uri="{FF2B5EF4-FFF2-40B4-BE49-F238E27FC236}">
                <a16:creationId xmlns:a16="http://schemas.microsoft.com/office/drawing/2014/main" id="{9CD28CDA-DB3B-766F-F42F-AFD30D4ED22C}"/>
              </a:ext>
            </a:extLst>
          </p:cNvPr>
          <p:cNvCxnSpPr>
            <a:cxnSpLocks/>
          </p:cNvCxnSpPr>
          <p:nvPr/>
        </p:nvCxnSpPr>
        <p:spPr>
          <a:xfrm rot="5400000">
            <a:off x="8810599" y="1450411"/>
            <a:ext cx="581751" cy="98486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구부러진 연결선 77">
            <a:extLst>
              <a:ext uri="{FF2B5EF4-FFF2-40B4-BE49-F238E27FC236}">
                <a16:creationId xmlns:a16="http://schemas.microsoft.com/office/drawing/2014/main" id="{68F57618-5A2F-1596-C307-676083CD9F2D}"/>
              </a:ext>
            </a:extLst>
          </p:cNvPr>
          <p:cNvCxnSpPr>
            <a:cxnSpLocks/>
            <a:stCxn id="20" idx="2"/>
            <a:endCxn id="7" idx="1"/>
          </p:cNvCxnSpPr>
          <p:nvPr/>
        </p:nvCxnSpPr>
        <p:spPr>
          <a:xfrm rot="16200000" flipH="1">
            <a:off x="5156691" y="2809662"/>
            <a:ext cx="545696" cy="12762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구부러진 연결선 82">
            <a:extLst>
              <a:ext uri="{FF2B5EF4-FFF2-40B4-BE49-F238E27FC236}">
                <a16:creationId xmlns:a16="http://schemas.microsoft.com/office/drawing/2014/main" id="{A4D5B3B7-BD1E-8951-764E-65FFDA622848}"/>
              </a:ext>
            </a:extLst>
          </p:cNvPr>
          <p:cNvCxnSpPr>
            <a:cxnSpLocks/>
            <a:stCxn id="21" idx="2"/>
            <a:endCxn id="16" idx="3"/>
          </p:cNvCxnSpPr>
          <p:nvPr/>
        </p:nvCxnSpPr>
        <p:spPr>
          <a:xfrm rot="5400000">
            <a:off x="9907885" y="2407412"/>
            <a:ext cx="689173" cy="8064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87">
                <a:extLst>
                  <a:ext uri="{FF2B5EF4-FFF2-40B4-BE49-F238E27FC236}">
                    <a16:creationId xmlns:a16="http://schemas.microsoft.com/office/drawing/2014/main" id="{DB23D3BD-FD12-26EE-4DEB-A252CEC4EADE}"/>
                  </a:ext>
                </a:extLst>
              </p:cNvPr>
              <p:cNvSpPr/>
              <p:nvPr/>
            </p:nvSpPr>
            <p:spPr>
              <a:xfrm>
                <a:off x="5365726" y="4709415"/>
                <a:ext cx="5084742" cy="3053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P </a:t>
                </a:r>
                <a:r>
                  <a:rPr lang="ko-KR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</a:rPr>
                  <a:t>값은 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맑은 고딕" panose="020B0503020000020004" pitchFamily="50" charset="-127"/>
                          </a:rPr>
                          <m:t>7.03</m:t>
                        </m:r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맑은 고딕" panose="020B0503020000020004" pitchFamily="50" charset="-127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맑은 고딕" panose="020B0503020000020004" pitchFamily="50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US" altLang="ko-KR" sz="1400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b="1" dirty="0">
                    <a:latin typeface="맑은 고딕" panose="020B0503020000020004" pitchFamily="50" charset="-127"/>
                  </a:rPr>
                  <a:t>(&lt;0.1)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 Null hypothesis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는 거부된다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30" name="직사각형 87">
                <a:extLst>
                  <a:ext uri="{FF2B5EF4-FFF2-40B4-BE49-F238E27FC236}">
                    <a16:creationId xmlns:a16="http://schemas.microsoft.com/office/drawing/2014/main" id="{DB23D3BD-FD12-26EE-4DEB-A252CEC4E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726" y="4709415"/>
                <a:ext cx="5084742" cy="305340"/>
              </a:xfrm>
              <a:prstGeom prst="rect">
                <a:avLst/>
              </a:prstGeom>
              <a:blipFill>
                <a:blip r:embed="rId5"/>
                <a:stretch>
                  <a:fillRect l="-49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직사각형 32">
            <a:extLst>
              <a:ext uri="{FF2B5EF4-FFF2-40B4-BE49-F238E27FC236}">
                <a16:creationId xmlns:a16="http://schemas.microsoft.com/office/drawing/2014/main" id="{6F66C8FF-2952-A713-D3B1-9D2D00BD2660}"/>
              </a:ext>
            </a:extLst>
          </p:cNvPr>
          <p:cNvSpPr/>
          <p:nvPr/>
        </p:nvSpPr>
        <p:spPr>
          <a:xfrm>
            <a:off x="1894088" y="6182328"/>
            <a:ext cx="325409" cy="133004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4">
            <a:extLst>
              <a:ext uri="{FF2B5EF4-FFF2-40B4-BE49-F238E27FC236}">
                <a16:creationId xmlns:a16="http://schemas.microsoft.com/office/drawing/2014/main" id="{209C1C30-63EA-623F-F5BB-741F9A5377CE}"/>
              </a:ext>
            </a:extLst>
          </p:cNvPr>
          <p:cNvSpPr/>
          <p:nvPr/>
        </p:nvSpPr>
        <p:spPr>
          <a:xfrm>
            <a:off x="6691238" y="1122332"/>
            <a:ext cx="1908883" cy="2214634"/>
          </a:xfrm>
          <a:prstGeom prst="rect">
            <a:avLst/>
          </a:prstGeom>
          <a:solidFill>
            <a:srgbClr val="92D05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5">
            <a:extLst>
              <a:ext uri="{FF2B5EF4-FFF2-40B4-BE49-F238E27FC236}">
                <a16:creationId xmlns:a16="http://schemas.microsoft.com/office/drawing/2014/main" id="{DF8943C9-0375-3670-80D2-CE5F76CEEA02}"/>
              </a:ext>
            </a:extLst>
          </p:cNvPr>
          <p:cNvSpPr/>
          <p:nvPr/>
        </p:nvSpPr>
        <p:spPr>
          <a:xfrm>
            <a:off x="267562" y="5007033"/>
            <a:ext cx="325409" cy="133004"/>
          </a:xfrm>
          <a:prstGeom prst="rect">
            <a:avLst/>
          </a:prstGeom>
          <a:solidFill>
            <a:schemeClr val="accent2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8">
            <a:extLst>
              <a:ext uri="{FF2B5EF4-FFF2-40B4-BE49-F238E27FC236}">
                <a16:creationId xmlns:a16="http://schemas.microsoft.com/office/drawing/2014/main" id="{A8E8630F-0B7E-63AE-E303-2F6E32042F91}"/>
              </a:ext>
            </a:extLst>
          </p:cNvPr>
          <p:cNvCxnSpPr>
            <a:stCxn id="33" idx="3"/>
          </p:cNvCxnSpPr>
          <p:nvPr/>
        </p:nvCxnSpPr>
        <p:spPr>
          <a:xfrm flipV="1">
            <a:off x="592971" y="5070763"/>
            <a:ext cx="1301117" cy="2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10">
            <a:extLst>
              <a:ext uri="{FF2B5EF4-FFF2-40B4-BE49-F238E27FC236}">
                <a16:creationId xmlns:a16="http://schemas.microsoft.com/office/drawing/2014/main" id="{3FAC64C6-E7F1-C7FD-2B22-4E741EB48C95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2056793" y="1282931"/>
            <a:ext cx="0" cy="3721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30">
            <a:extLst>
              <a:ext uri="{FF2B5EF4-FFF2-40B4-BE49-F238E27FC236}">
                <a16:creationId xmlns:a16="http://schemas.microsoft.com/office/drawing/2014/main" id="{437BE4F9-BD45-8729-9F10-08FDCBDEBEAD}"/>
              </a:ext>
            </a:extLst>
          </p:cNvPr>
          <p:cNvSpPr/>
          <p:nvPr/>
        </p:nvSpPr>
        <p:spPr>
          <a:xfrm>
            <a:off x="5903551" y="5137265"/>
            <a:ext cx="353547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latin typeface="+mn-ea"/>
              </a:rPr>
              <a:t>Null hypothesis: </a:t>
            </a:r>
            <a:r>
              <a:rPr lang="ko-KR" altLang="en-US" sz="1050" dirty="0">
                <a:latin typeface="+mn-ea"/>
              </a:rPr>
              <a:t>평균이 최소 </a:t>
            </a:r>
            <a:r>
              <a:rPr lang="en-US" altLang="ko-KR" sz="1050" dirty="0">
                <a:latin typeface="+mn-ea"/>
              </a:rPr>
              <a:t>1000g</a:t>
            </a:r>
            <a:r>
              <a:rPr lang="ko-KR" altLang="en-US" sz="1050" dirty="0">
                <a:latin typeface="+mn-ea"/>
              </a:rPr>
              <a:t> 이다</a:t>
            </a:r>
            <a:r>
              <a:rPr lang="en-US" altLang="ko-KR" sz="1050" dirty="0">
                <a:latin typeface="+mn-ea"/>
              </a:rPr>
              <a:t>.</a:t>
            </a:r>
            <a:r>
              <a:rPr lang="ko-KR" altLang="en-US" sz="1050" dirty="0">
                <a:latin typeface="+mn-ea"/>
              </a:rPr>
              <a:t> </a:t>
            </a:r>
            <a:endParaRPr lang="en-US" altLang="ko-KR" sz="1050" dirty="0">
              <a:latin typeface="+mn-ea"/>
            </a:endParaRPr>
          </a:p>
          <a:p>
            <a:pPr algn="ctr"/>
            <a:r>
              <a:rPr lang="en-US" altLang="ko-KR" sz="1050" dirty="0">
                <a:latin typeface="+mn-ea"/>
              </a:rPr>
              <a:t>Two-sided, P&gt;|t| </a:t>
            </a:r>
            <a:r>
              <a:rPr lang="ko-KR" altLang="en-US" sz="1050" dirty="0">
                <a:latin typeface="+mn-ea"/>
              </a:rPr>
              <a:t>에 해당함</a:t>
            </a:r>
          </a:p>
        </p:txBody>
      </p:sp>
      <p:sp>
        <p:nvSpPr>
          <p:cNvPr id="52" name="직사각형 40">
            <a:extLst>
              <a:ext uri="{FF2B5EF4-FFF2-40B4-BE49-F238E27FC236}">
                <a16:creationId xmlns:a16="http://schemas.microsoft.com/office/drawing/2014/main" id="{6373FFAE-2B8E-FE7F-A359-F2C87A577400}"/>
              </a:ext>
            </a:extLst>
          </p:cNvPr>
          <p:cNvSpPr/>
          <p:nvPr/>
        </p:nvSpPr>
        <p:spPr>
          <a:xfrm>
            <a:off x="7339677" y="2002518"/>
            <a:ext cx="7729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t=1.699</a:t>
            </a:r>
            <a:r>
              <a:rPr lang="ko-KR" altLang="en-US" sz="1200" dirty="0">
                <a:latin typeface="+mn-ea"/>
              </a:rPr>
              <a:t> </a:t>
            </a:r>
            <a:endParaRPr lang="ko-KR" altLang="en-US" sz="1200" dirty="0"/>
          </a:p>
        </p:txBody>
      </p:sp>
      <p:cxnSp>
        <p:nvCxnSpPr>
          <p:cNvPr id="53" name="구부러진 연결선 41">
            <a:extLst>
              <a:ext uri="{FF2B5EF4-FFF2-40B4-BE49-F238E27FC236}">
                <a16:creationId xmlns:a16="http://schemas.microsoft.com/office/drawing/2014/main" id="{C6D14E38-097A-3540-F912-60F48944A688}"/>
              </a:ext>
            </a:extLst>
          </p:cNvPr>
          <p:cNvCxnSpPr>
            <a:stCxn id="52" idx="2"/>
          </p:cNvCxnSpPr>
          <p:nvPr/>
        </p:nvCxnSpPr>
        <p:spPr>
          <a:xfrm rot="16200000" flipH="1">
            <a:off x="7723748" y="2281931"/>
            <a:ext cx="896018" cy="8911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42">
            <a:extLst>
              <a:ext uri="{FF2B5EF4-FFF2-40B4-BE49-F238E27FC236}">
                <a16:creationId xmlns:a16="http://schemas.microsoft.com/office/drawing/2014/main" id="{2324A8CD-EAB2-91A8-8230-692B1F5A4150}"/>
              </a:ext>
            </a:extLst>
          </p:cNvPr>
          <p:cNvCxnSpPr/>
          <p:nvPr/>
        </p:nvCxnSpPr>
        <p:spPr>
          <a:xfrm>
            <a:off x="8614373" y="2658098"/>
            <a:ext cx="0" cy="69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BE5C238-D267-B8DE-9B8F-DF868896D5F1}"/>
              </a:ext>
            </a:extLst>
          </p:cNvPr>
          <p:cNvSpPr txBox="1"/>
          <p:nvPr/>
        </p:nvSpPr>
        <p:spPr>
          <a:xfrm>
            <a:off x="4680811" y="3714195"/>
            <a:ext cx="6863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n-ea"/>
              </a:rPr>
              <a:t>Two-sided test (</a:t>
            </a:r>
            <a:r>
              <a:rPr lang="ko-KR" altLang="en-US" sz="1200" dirty="0">
                <a:latin typeface="+mn-ea"/>
              </a:rPr>
              <a:t>양측검정</a:t>
            </a:r>
            <a:r>
              <a:rPr lang="en-US" altLang="ko-KR" sz="1200" dirty="0">
                <a:latin typeface="+mn-ea"/>
              </a:rPr>
              <a:t>):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왼쪽 </a:t>
            </a:r>
            <a:r>
              <a:rPr lang="ko-KR" altLang="en-US" sz="1200" dirty="0" err="1">
                <a:latin typeface="+mn-ea"/>
              </a:rPr>
              <a:t>기각역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(2.5%): </a:t>
            </a:r>
            <a:r>
              <a:rPr lang="ko-KR" altLang="en-US" sz="1200" dirty="0">
                <a:latin typeface="+mn-ea"/>
              </a:rPr>
              <a:t> </a:t>
            </a:r>
            <a:r>
              <a:rPr lang="el-GR" sz="1200" dirty="0">
                <a:latin typeface="+mn-ea"/>
              </a:rPr>
              <a:t>μ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1000</a:t>
            </a:r>
            <a:r>
              <a:rPr lang="ko-KR" altLang="en-US" sz="1200" dirty="0">
                <a:latin typeface="+mn-ea"/>
              </a:rPr>
              <a:t>보다 유의미하게 작은 경우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오른쪽 </a:t>
            </a:r>
            <a:r>
              <a:rPr lang="ko-KR" altLang="en-US" sz="1200" dirty="0" err="1">
                <a:latin typeface="+mn-ea"/>
              </a:rPr>
              <a:t>기각역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(2.5%): </a:t>
            </a:r>
            <a:r>
              <a:rPr lang="ko-KR" altLang="en-US" sz="1200" dirty="0">
                <a:latin typeface="+mn-ea"/>
              </a:rPr>
              <a:t> </a:t>
            </a:r>
            <a:r>
              <a:rPr lang="el-GR" sz="1200" dirty="0">
                <a:latin typeface="+mn-ea"/>
              </a:rPr>
              <a:t>μ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1000</a:t>
            </a:r>
            <a:r>
              <a:rPr lang="ko-KR" altLang="en-US" sz="1200" dirty="0">
                <a:latin typeface="+mn-ea"/>
              </a:rPr>
              <a:t>보다 유의미하게 큰 경우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b="1" dirty="0">
                <a:latin typeface="+mn-ea"/>
              </a:rPr>
              <a:t>- </a:t>
            </a:r>
            <a:r>
              <a:rPr lang="ko-KR" altLang="en-US" sz="1200" b="1" dirty="0" err="1">
                <a:latin typeface="+mn-ea"/>
              </a:rPr>
              <a:t>관측값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sz="1200" b="1" dirty="0">
                <a:latin typeface="+mn-ea"/>
              </a:rPr>
              <a:t>t=-4.318</a:t>
            </a:r>
            <a:r>
              <a:rPr lang="ko-KR" altLang="en-US" sz="1200" b="1" dirty="0">
                <a:latin typeface="+mn-ea"/>
              </a:rPr>
              <a:t>은 왼쪽 기각역에 속함 → 평균이 </a:t>
            </a:r>
            <a:r>
              <a:rPr lang="en-US" altLang="ko-KR" sz="1200" b="1" dirty="0">
                <a:latin typeface="+mn-ea"/>
              </a:rPr>
              <a:t>1000</a:t>
            </a:r>
            <a:r>
              <a:rPr lang="en-US" sz="1200" b="1" dirty="0">
                <a:latin typeface="+mn-ea"/>
              </a:rPr>
              <a:t>g</a:t>
            </a:r>
            <a:r>
              <a:rPr lang="ko-KR" altLang="en-US" sz="1200" b="1" dirty="0">
                <a:latin typeface="+mn-ea"/>
              </a:rPr>
              <a:t>과 다르다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구체적으로는 더 낮다</a:t>
            </a:r>
            <a:r>
              <a:rPr lang="en-US" altLang="ko-KR" sz="1200" b="1" dirty="0">
                <a:latin typeface="+mn-ea"/>
              </a:rPr>
              <a:t>)</a:t>
            </a:r>
            <a:endParaRPr 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821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C951-7FE6-7CA1-4035-5959C8CA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7305CD4-EC3F-5328-A7C2-5DFABE18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6965871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 w="3175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Arial" panose="020B0604020202020204" pitchFamily="34" charset="0"/>
              </a:rPr>
              <a:t>: Null Hypothesis, T-test, P value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47" name="직사각형 30">
            <a:extLst>
              <a:ext uri="{FF2B5EF4-FFF2-40B4-BE49-F238E27FC236}">
                <a16:creationId xmlns:a16="http://schemas.microsoft.com/office/drawing/2014/main" id="{91CBD8A5-A6E6-9ACD-1EE5-18A32E74B7C7}"/>
              </a:ext>
            </a:extLst>
          </p:cNvPr>
          <p:cNvSpPr/>
          <p:nvPr/>
        </p:nvSpPr>
        <p:spPr>
          <a:xfrm>
            <a:off x="424919" y="844670"/>
            <a:ext cx="111752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e.g.2 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제약회사에서 신규 감기약을 만들었다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여기서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30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개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랜덤하게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추출해서 제품의 평균 감기 바이러스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저항성를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재어 보니 평균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990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 때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SD(Standard Deviation)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12.5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 나왔다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그런데 실은 감기 바이러스 저항성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1000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이라고 이미 광고를 했으니 </a:t>
            </a:r>
            <a:b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수많은 이 전체 제품의 감기저항성이 평균이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적어도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1000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인 것만 확인하고 싶다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다른 영향성은 몰라도 감기저항성만 </a:t>
            </a:r>
            <a:b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키우면 되니까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. </a:t>
            </a:r>
          </a:p>
          <a:p>
            <a:pPr defTabSz="914400" latinLnBrk="1">
              <a:lnSpc>
                <a:spcPts val="1800"/>
              </a:lnSpc>
              <a:spcBef>
                <a:spcPts val="600"/>
              </a:spcBef>
            </a:pP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(= one-sided null hypothesis) : (e.g.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특정 감기약이 부작용 고려 안한 것이랑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비슷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</a:p>
        </p:txBody>
      </p:sp>
      <p:pic>
        <p:nvPicPr>
          <p:cNvPr id="48" name="그림 36">
            <a:extLst>
              <a:ext uri="{FF2B5EF4-FFF2-40B4-BE49-F238E27FC236}">
                <a16:creationId xmlns:a16="http://schemas.microsoft.com/office/drawing/2014/main" id="{EDBB0C29-41AF-FC62-8BC8-1AC2CE47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70" y="2998678"/>
            <a:ext cx="3371620" cy="2426228"/>
          </a:xfrm>
          <a:prstGeom prst="rect">
            <a:avLst/>
          </a:prstGeom>
        </p:spPr>
      </p:pic>
      <p:cxnSp>
        <p:nvCxnSpPr>
          <p:cNvPr id="49" name="직선 연결선 37">
            <a:extLst>
              <a:ext uri="{FF2B5EF4-FFF2-40B4-BE49-F238E27FC236}">
                <a16:creationId xmlns:a16="http://schemas.microsoft.com/office/drawing/2014/main" id="{0E5C2355-FB2C-1747-BB86-590FFB8ACA6D}"/>
              </a:ext>
            </a:extLst>
          </p:cNvPr>
          <p:cNvCxnSpPr/>
          <p:nvPr/>
        </p:nvCxnSpPr>
        <p:spPr>
          <a:xfrm>
            <a:off x="881149" y="5221625"/>
            <a:ext cx="4355869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5" name="직사각형 40">
            <a:extLst>
              <a:ext uri="{FF2B5EF4-FFF2-40B4-BE49-F238E27FC236}">
                <a16:creationId xmlns:a16="http://schemas.microsoft.com/office/drawing/2014/main" id="{E8E08BAD-944A-90B1-36A4-F0668943177C}"/>
              </a:ext>
            </a:extLst>
          </p:cNvPr>
          <p:cNvSpPr/>
          <p:nvPr/>
        </p:nvSpPr>
        <p:spPr>
          <a:xfrm>
            <a:off x="4085166" y="2947163"/>
            <a:ext cx="179307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latinLnBrk="1"/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제품의 최소 </a:t>
            </a:r>
            <a:r>
              <a:rPr lang="ko-KR" altLang="en-US" sz="1050" dirty="0" err="1">
                <a:solidFill>
                  <a:prstClr val="black"/>
                </a:solidFill>
                <a:latin typeface="맑은 고딕" panose="020B0503020000020004" pitchFamily="34" charset="-127"/>
              </a:rPr>
              <a:t>감기저항성</a:t>
            </a:r>
            <a:endParaRPr lang="en-US" altLang="ko-KR" sz="1050" dirty="0">
              <a:solidFill>
                <a:prstClr val="black"/>
              </a:solidFill>
              <a:latin typeface="맑은 고딕" panose="020B0503020000020004" pitchFamily="34" charset="-127"/>
            </a:endParaRPr>
          </a:p>
          <a:p>
            <a:pPr algn="ctr" defTabSz="914400" latinLnBrk="1"/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Null hypothesis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인 </a:t>
            </a:r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1000 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이 맞을 확률 부분</a:t>
            </a:r>
          </a:p>
        </p:txBody>
      </p:sp>
      <p:sp>
        <p:nvSpPr>
          <p:cNvPr id="56" name="직사각형 41">
            <a:extLst>
              <a:ext uri="{FF2B5EF4-FFF2-40B4-BE49-F238E27FC236}">
                <a16:creationId xmlns:a16="http://schemas.microsoft.com/office/drawing/2014/main" id="{CC3DF814-EA70-BCC3-EF2B-A2BBBC11620D}"/>
              </a:ext>
            </a:extLst>
          </p:cNvPr>
          <p:cNvSpPr/>
          <p:nvPr/>
        </p:nvSpPr>
        <p:spPr>
          <a:xfrm>
            <a:off x="3996837" y="4832806"/>
            <a:ext cx="1240181" cy="389431"/>
          </a:xfrm>
          <a:prstGeom prst="rect">
            <a:avLst/>
          </a:prstGeom>
          <a:solidFill>
            <a:srgbClr val="ED7D31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7" name="직사각형 42">
            <a:extLst>
              <a:ext uri="{FF2B5EF4-FFF2-40B4-BE49-F238E27FC236}">
                <a16:creationId xmlns:a16="http://schemas.microsoft.com/office/drawing/2014/main" id="{8C5085FF-F0D6-0D1B-B4E0-55D34E4012F1}"/>
              </a:ext>
            </a:extLst>
          </p:cNvPr>
          <p:cNvSpPr/>
          <p:nvPr/>
        </p:nvSpPr>
        <p:spPr>
          <a:xfrm>
            <a:off x="3140333" y="5890917"/>
            <a:ext cx="212362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latinLnBrk="1"/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제품의 최소 감기 저항성 </a:t>
            </a:r>
            <a:endParaRPr lang="en-US" altLang="ko-KR" sz="1050" dirty="0">
              <a:solidFill>
                <a:prstClr val="black"/>
              </a:solidFill>
              <a:latin typeface="맑은 고딕" panose="020B0503020000020004" pitchFamily="34" charset="-127"/>
            </a:endParaRPr>
          </a:p>
          <a:p>
            <a:pPr algn="ctr" defTabSz="914400" latinLnBrk="1"/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Null hypothesis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인 </a:t>
            </a:r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1000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 보다 </a:t>
            </a:r>
            <a:endParaRPr lang="en-US" altLang="ko-KR" sz="1050" dirty="0">
              <a:solidFill>
                <a:prstClr val="black"/>
              </a:solidFill>
              <a:latin typeface="맑은 고딕" panose="020B0503020000020004" pitchFamily="34" charset="-127"/>
            </a:endParaRPr>
          </a:p>
          <a:p>
            <a:pPr algn="ctr" defTabSz="914400" latinLnBrk="1"/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34" charset="-127"/>
              </a:rPr>
              <a:t>훨씬 클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 확률 부분</a:t>
            </a:r>
          </a:p>
        </p:txBody>
      </p:sp>
      <p:cxnSp>
        <p:nvCxnSpPr>
          <p:cNvPr id="58" name="구부러진 연결선 43">
            <a:extLst>
              <a:ext uri="{FF2B5EF4-FFF2-40B4-BE49-F238E27FC236}">
                <a16:creationId xmlns:a16="http://schemas.microsoft.com/office/drawing/2014/main" id="{D6233304-7F1E-E6F6-409E-C26C3B3AB157}"/>
              </a:ext>
            </a:extLst>
          </p:cNvPr>
          <p:cNvCxnSpPr>
            <a:stCxn id="55" idx="2"/>
          </p:cNvCxnSpPr>
          <p:nvPr/>
        </p:nvCxnSpPr>
        <p:spPr>
          <a:xfrm rot="5400000">
            <a:off x="4198396" y="3322685"/>
            <a:ext cx="581751" cy="984868"/>
          </a:xfrm>
          <a:prstGeom prst="curved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구부러진 연결선 44">
            <a:extLst>
              <a:ext uri="{FF2B5EF4-FFF2-40B4-BE49-F238E27FC236}">
                <a16:creationId xmlns:a16="http://schemas.microsoft.com/office/drawing/2014/main" id="{69F5EFB9-D923-8B70-44F0-245CFE7BB43A}"/>
              </a:ext>
            </a:extLst>
          </p:cNvPr>
          <p:cNvCxnSpPr>
            <a:stCxn id="57" idx="3"/>
            <a:endCxn id="56" idx="3"/>
          </p:cNvCxnSpPr>
          <p:nvPr/>
        </p:nvCxnSpPr>
        <p:spPr>
          <a:xfrm flipH="1" flipV="1">
            <a:off x="5237018" y="5027522"/>
            <a:ext cx="26941" cy="1151936"/>
          </a:xfrm>
          <a:prstGeom prst="curvedConnector3">
            <a:avLst>
              <a:gd name="adj1" fmla="val -848521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직사각형 45">
            <a:extLst>
              <a:ext uri="{FF2B5EF4-FFF2-40B4-BE49-F238E27FC236}">
                <a16:creationId xmlns:a16="http://schemas.microsoft.com/office/drawing/2014/main" id="{713818D0-769D-02F2-228B-23DE0A092931}"/>
              </a:ext>
            </a:extLst>
          </p:cNvPr>
          <p:cNvSpPr/>
          <p:nvPr/>
        </p:nvSpPr>
        <p:spPr>
          <a:xfrm>
            <a:off x="1222664" y="5459095"/>
            <a:ext cx="353547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latinLnBrk="1"/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Null hypothesis: 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평균이 최소 </a:t>
            </a:r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1000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 이다</a:t>
            </a:r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.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 </a:t>
            </a:r>
            <a:endParaRPr lang="en-US" altLang="ko-KR" sz="1050" dirty="0">
              <a:solidFill>
                <a:prstClr val="black"/>
              </a:solidFill>
              <a:latin typeface="맑은 고딕" panose="020B0503020000020004" pitchFamily="34" charset="-127"/>
            </a:endParaRPr>
          </a:p>
          <a:p>
            <a:pPr algn="ctr" defTabSz="914400" latinLnBrk="1"/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One-sided, P (T ≤ </a:t>
            </a:r>
            <a:r>
              <a:rPr lang="en-US" altLang="ko-KR" sz="1050" dirty="0" err="1">
                <a:solidFill>
                  <a:prstClr val="black"/>
                </a:solidFill>
                <a:latin typeface="맑은 고딕" panose="020B0503020000020004" pitchFamily="34" charset="-127"/>
              </a:rPr>
              <a:t>t_observed</a:t>
            </a:r>
            <a:r>
              <a:rPr lang="en-US" altLang="ko-KR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) </a:t>
            </a:r>
            <a:r>
              <a:rPr lang="ko-KR" altLang="en-US" sz="1050" dirty="0" err="1">
                <a:solidFill>
                  <a:prstClr val="black"/>
                </a:solidFill>
                <a:latin typeface="맑은 고딕" panose="020B0503020000020004" pitchFamily="34" charset="-127"/>
              </a:rPr>
              <a:t>에</a:t>
            </a:r>
            <a:r>
              <a:rPr lang="ko-KR" altLang="en-US" sz="1050" dirty="0">
                <a:solidFill>
                  <a:prstClr val="black"/>
                </a:solidFill>
                <a:latin typeface="맑은 고딕" panose="020B0503020000020004" pitchFamily="34" charset="-127"/>
              </a:rPr>
              <a:t> 해당함</a:t>
            </a:r>
          </a:p>
        </p:txBody>
      </p:sp>
      <p:cxnSp>
        <p:nvCxnSpPr>
          <p:cNvPr id="63" name="직선 연결선 48">
            <a:extLst>
              <a:ext uri="{FF2B5EF4-FFF2-40B4-BE49-F238E27FC236}">
                <a16:creationId xmlns:a16="http://schemas.microsoft.com/office/drawing/2014/main" id="{28C0EF26-F957-6A6A-6491-54F4738EED94}"/>
              </a:ext>
            </a:extLst>
          </p:cNvPr>
          <p:cNvCxnSpPr/>
          <p:nvPr/>
        </p:nvCxnSpPr>
        <p:spPr>
          <a:xfrm>
            <a:off x="3993858" y="4510085"/>
            <a:ext cx="0" cy="697828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64" name="직사각형 49">
            <a:extLst>
              <a:ext uri="{FF2B5EF4-FFF2-40B4-BE49-F238E27FC236}">
                <a16:creationId xmlns:a16="http://schemas.microsoft.com/office/drawing/2014/main" id="{26836667-29ED-1DDD-B4AD-8C04B4EADE15}"/>
              </a:ext>
            </a:extLst>
          </p:cNvPr>
          <p:cNvSpPr/>
          <p:nvPr/>
        </p:nvSpPr>
        <p:spPr>
          <a:xfrm>
            <a:off x="2087954" y="3020520"/>
            <a:ext cx="1908883" cy="2214634"/>
          </a:xfrm>
          <a:prstGeom prst="rect">
            <a:avLst/>
          </a:prstGeom>
          <a:solidFill>
            <a:srgbClr val="92D050">
              <a:alpha val="2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cxnSp>
        <p:nvCxnSpPr>
          <p:cNvPr id="65" name="직선 화살표 연결선 50">
            <a:extLst>
              <a:ext uri="{FF2B5EF4-FFF2-40B4-BE49-F238E27FC236}">
                <a16:creationId xmlns:a16="http://schemas.microsoft.com/office/drawing/2014/main" id="{81E87D06-975A-386E-A346-8E9A66234BD4}"/>
              </a:ext>
            </a:extLst>
          </p:cNvPr>
          <p:cNvCxnSpPr/>
          <p:nvPr/>
        </p:nvCxnSpPr>
        <p:spPr>
          <a:xfrm>
            <a:off x="1042282" y="4660910"/>
            <a:ext cx="0" cy="41939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직사각형 51">
                <a:extLst>
                  <a:ext uri="{FF2B5EF4-FFF2-40B4-BE49-F238E27FC236}">
                    <a16:creationId xmlns:a16="http://schemas.microsoft.com/office/drawing/2014/main" id="{A9792665-F230-DE2C-F18A-A154B68F9D7A}"/>
                  </a:ext>
                </a:extLst>
              </p:cNvPr>
              <p:cNvSpPr/>
              <p:nvPr/>
            </p:nvSpPr>
            <p:spPr>
              <a:xfrm>
                <a:off x="357223" y="4292965"/>
                <a:ext cx="13701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en-US" altLang="ko-KR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=−4.318</m:t>
                      </m:r>
                    </m:oMath>
                  </m:oMathPara>
                </a14:m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66" name="직사각형 51">
                <a:extLst>
                  <a:ext uri="{FF2B5EF4-FFF2-40B4-BE49-F238E27FC236}">
                    <a16:creationId xmlns:a16="http://schemas.microsoft.com/office/drawing/2014/main" id="{A9792665-F230-DE2C-F18A-A154B68F9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23" y="4292965"/>
                <a:ext cx="13701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직사각형 53">
                <a:extLst>
                  <a:ext uri="{FF2B5EF4-FFF2-40B4-BE49-F238E27FC236}">
                    <a16:creationId xmlns:a16="http://schemas.microsoft.com/office/drawing/2014/main" id="{55910B0D-64F2-E27F-5FB8-894817AF75AD}"/>
                  </a:ext>
                </a:extLst>
              </p:cNvPr>
              <p:cNvSpPr/>
              <p:nvPr/>
            </p:nvSpPr>
            <p:spPr>
              <a:xfrm>
                <a:off x="6257107" y="3906724"/>
                <a:ext cx="3245454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914400" latinLnBrk="1"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en-US" altLang="ko-KR" sz="1400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rPr>
                  <a:t>P </a:t>
                </a:r>
                <a:r>
                  <a:rPr lang="ko-KR" altLang="en-US" sz="1400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</a:rPr>
                  <a:t>값은 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맑은 고딕" panose="020B0503020000020004" pitchFamily="50" charset="-127"/>
                          </a:rPr>
                          <m:t>7.03</m:t>
                        </m:r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맑은 고딕" panose="020B0503020000020004" pitchFamily="50" charset="-127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ko-KR" sz="1400" b="1" dirty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맑은 고딕" panose="020B0503020000020004" pitchFamily="50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b="1" i="1" smtClean="0"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US" altLang="ko-KR" sz="1400" b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b="1" dirty="0">
                    <a:solidFill>
                      <a:prstClr val="black"/>
                    </a:solidFill>
                    <a:latin typeface="맑은 고딕" panose="020B0503020000020004" pitchFamily="50" charset="-127"/>
                  </a:rPr>
                  <a:t>(&lt; 0.001)</a:t>
                </a:r>
              </a:p>
              <a:p>
                <a:pPr defTabSz="914400" latinLnBrk="1"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en-US" altLang="ko-KR" sz="1400" b="1" dirty="0">
                    <a:solidFill>
                      <a:prstClr val="black"/>
                    </a:solidFill>
                    <a:latin typeface="맑은 고딕" panose="020B0503020000020004" pitchFamily="50" charset="-127"/>
                  </a:rPr>
                  <a:t> Null hypothesis</a:t>
                </a:r>
                <a:r>
                  <a:rPr lang="ko-KR" altLang="en-US" sz="1400" b="1" dirty="0">
                    <a:solidFill>
                      <a:prstClr val="black"/>
                    </a:solidFill>
                    <a:latin typeface="맑은 고딕" panose="020B0503020000020004" pitchFamily="50" charset="-127"/>
                  </a:rPr>
                  <a:t>는 거부된다</a:t>
                </a:r>
                <a:r>
                  <a:rPr lang="en-US" altLang="ko-KR" sz="1400" b="1" dirty="0">
                    <a:solidFill>
                      <a:prstClr val="black"/>
                    </a:solidFill>
                    <a:latin typeface="맑은 고딕" panose="020B0503020000020004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67" name="직사각형 53">
                <a:extLst>
                  <a:ext uri="{FF2B5EF4-FFF2-40B4-BE49-F238E27FC236}">
                    <a16:creationId xmlns:a16="http://schemas.microsoft.com/office/drawing/2014/main" id="{55910B0D-64F2-E27F-5FB8-894817AF7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107" y="3906724"/>
                <a:ext cx="3245454" cy="630942"/>
              </a:xfrm>
              <a:prstGeom prst="rect">
                <a:avLst/>
              </a:prstGeom>
              <a:blipFill>
                <a:blip r:embed="rId4"/>
                <a:stretch>
                  <a:fillRect l="-389" t="-196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직사각형 55">
            <a:extLst>
              <a:ext uri="{FF2B5EF4-FFF2-40B4-BE49-F238E27FC236}">
                <a16:creationId xmlns:a16="http://schemas.microsoft.com/office/drawing/2014/main" id="{9FF099CF-A00E-7EC4-F8E7-285EAC9050F9}"/>
              </a:ext>
            </a:extLst>
          </p:cNvPr>
          <p:cNvSpPr/>
          <p:nvPr/>
        </p:nvSpPr>
        <p:spPr>
          <a:xfrm>
            <a:off x="5966572" y="3445787"/>
            <a:ext cx="4084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>
              <a:defRPr/>
            </a:pPr>
            <a:r>
              <a:rPr lang="en-US" b="1" dirty="0">
                <a:latin typeface="+mn-ea"/>
              </a:rPr>
              <a:t>99.9%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신뢰수준에서도 귀무가설 기각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EFC92-A9BC-39F1-11E1-C4B143A853AB}"/>
              </a:ext>
            </a:extLst>
          </p:cNvPr>
          <p:cNvSpPr txBox="1"/>
          <p:nvPr/>
        </p:nvSpPr>
        <p:spPr>
          <a:xfrm>
            <a:off x="215987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One-sided, P(T ≤ −4.318)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72509-5B27-523D-BC25-9D8F99202FD4}"/>
              </a:ext>
            </a:extLst>
          </p:cNvPr>
          <p:cNvSpPr txBox="1"/>
          <p:nvPr/>
        </p:nvSpPr>
        <p:spPr>
          <a:xfrm>
            <a:off x="6012520" y="5391835"/>
            <a:ext cx="5539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결론</a:t>
            </a:r>
            <a:r>
              <a:rPr lang="en-US" altLang="ko-KR" sz="1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:</a:t>
            </a:r>
            <a:r>
              <a:rPr lang="ko-KR" altLang="en-US" sz="18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이 감기약은 감기저항성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평균이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1000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이 안됨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48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3282-2222-1786-070A-9F109CE7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1F4C64F9-8EA6-92C6-BB92-C3E60AF0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 w="3175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Arial" panose="020B0604020202020204" pitchFamily="34" charset="0"/>
              </a:rPr>
              <a:t>: Auto correlation, multicollinearity, ANOVA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27A609BD-858D-8F8F-3063-D977217ADB5C}"/>
              </a:ext>
            </a:extLst>
          </p:cNvPr>
          <p:cNvSpPr/>
          <p:nvPr/>
        </p:nvSpPr>
        <p:spPr>
          <a:xfrm>
            <a:off x="317064" y="860225"/>
            <a:ext cx="62969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데이터 </a:t>
            </a:r>
            <a:r>
              <a:rPr lang="ko-KR" altLang="en-US" dirty="0" err="1">
                <a:latin typeface="맑은 고딕" panose="020B0503020000020004" pitchFamily="50" charset="-127"/>
              </a:rPr>
              <a:t>베이스안에</a:t>
            </a:r>
            <a:r>
              <a:rPr lang="ko-KR" altLang="en-US" dirty="0">
                <a:latin typeface="맑은 고딕" panose="020B0503020000020004" pitchFamily="50" charset="-127"/>
              </a:rPr>
              <a:t> 같은 변수의 연속적인 데이터가 있을 때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(e.g. </a:t>
            </a:r>
            <a:r>
              <a:rPr lang="ko-KR" altLang="en-US" sz="1400" dirty="0">
                <a:latin typeface="+mj-ea"/>
                <a:ea typeface="+mj-ea"/>
              </a:rPr>
              <a:t>서울 시청역의 </a:t>
            </a:r>
            <a:r>
              <a:rPr lang="en-US" altLang="ko-KR" sz="1400" dirty="0">
                <a:latin typeface="+mj-ea"/>
                <a:ea typeface="+mj-ea"/>
              </a:rPr>
              <a:t>10</a:t>
            </a:r>
            <a:r>
              <a:rPr lang="ko-KR" altLang="en-US" sz="1400" dirty="0">
                <a:latin typeface="+mj-ea"/>
                <a:ea typeface="+mj-ea"/>
              </a:rPr>
              <a:t>번 출구의 화요일과 수요일 아침의 각각 인구 </a:t>
            </a:r>
            <a:r>
              <a:rPr lang="ko-KR" altLang="en-US" sz="1400" dirty="0" err="1">
                <a:latin typeface="+mj-ea"/>
                <a:ea typeface="+mj-ea"/>
              </a:rPr>
              <a:t>이동량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3" name="직사각형 7">
            <a:extLst>
              <a:ext uri="{FF2B5EF4-FFF2-40B4-BE49-F238E27FC236}">
                <a16:creationId xmlns:a16="http://schemas.microsoft.com/office/drawing/2014/main" id="{EE71470A-13A4-AEF1-1300-9A6FD7C5B6BB}"/>
              </a:ext>
            </a:extLst>
          </p:cNvPr>
          <p:cNvSpPr/>
          <p:nvPr/>
        </p:nvSpPr>
        <p:spPr>
          <a:xfrm>
            <a:off x="317064" y="571218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Auto correlation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sp>
        <p:nvSpPr>
          <p:cNvPr id="4" name="직사각형 8">
            <a:extLst>
              <a:ext uri="{FF2B5EF4-FFF2-40B4-BE49-F238E27FC236}">
                <a16:creationId xmlns:a16="http://schemas.microsoft.com/office/drawing/2014/main" id="{5ADB2067-F0CC-B628-002E-839CE72CCEC4}"/>
              </a:ext>
            </a:extLst>
          </p:cNvPr>
          <p:cNvSpPr/>
          <p:nvPr/>
        </p:nvSpPr>
        <p:spPr>
          <a:xfrm>
            <a:off x="317064" y="3583191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Multicollinearity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sp>
        <p:nvSpPr>
          <p:cNvPr id="5" name="직사각형 9">
            <a:extLst>
              <a:ext uri="{FF2B5EF4-FFF2-40B4-BE49-F238E27FC236}">
                <a16:creationId xmlns:a16="http://schemas.microsoft.com/office/drawing/2014/main" id="{9546CC5B-87BC-0C11-96CB-18F0348E07C1}"/>
              </a:ext>
            </a:extLst>
          </p:cNvPr>
          <p:cNvSpPr/>
          <p:nvPr/>
        </p:nvSpPr>
        <p:spPr>
          <a:xfrm>
            <a:off x="317064" y="3906356"/>
            <a:ext cx="85972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데이터 </a:t>
            </a:r>
            <a:r>
              <a:rPr lang="ko-KR" altLang="en-US" dirty="0" err="1">
                <a:latin typeface="맑은 고딕" panose="020B0503020000020004" pitchFamily="50" charset="-127"/>
              </a:rPr>
              <a:t>베이스안에</a:t>
            </a:r>
            <a:r>
              <a:rPr lang="ko-KR" altLang="en-US" dirty="0">
                <a:latin typeface="맑은 고딕" panose="020B0503020000020004" pitchFamily="50" charset="-127"/>
              </a:rPr>
              <a:t> 적어도 </a:t>
            </a:r>
            <a:r>
              <a:rPr lang="en-US" altLang="ko-KR" dirty="0">
                <a:latin typeface="맑은 고딕" panose="020B0503020000020004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</a:rPr>
              <a:t>개의 변수가 선형적인 특성이 있을 때 이 현상을 말함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(e.g. </a:t>
            </a:r>
            <a:r>
              <a:rPr lang="ko-KR" altLang="en-US" sz="1400" dirty="0">
                <a:latin typeface="+mj-ea"/>
                <a:ea typeface="+mj-ea"/>
              </a:rPr>
              <a:t>서울 시청역의 </a:t>
            </a:r>
            <a:r>
              <a:rPr lang="en-US" altLang="ko-KR" sz="1400" dirty="0">
                <a:latin typeface="+mj-ea"/>
                <a:ea typeface="+mj-ea"/>
              </a:rPr>
              <a:t>10</a:t>
            </a:r>
            <a:r>
              <a:rPr lang="ko-KR" altLang="en-US" sz="1400" dirty="0">
                <a:latin typeface="+mj-ea"/>
                <a:ea typeface="+mj-ea"/>
              </a:rPr>
              <a:t>번 출구의 하루 평균 온도와 </a:t>
            </a:r>
            <a:r>
              <a:rPr lang="en-US" altLang="ko-KR" sz="1400" dirty="0">
                <a:latin typeface="+mj-ea"/>
                <a:ea typeface="+mj-ea"/>
              </a:rPr>
              <a:t>9</a:t>
            </a:r>
            <a:r>
              <a:rPr lang="ko-KR" altLang="en-US" sz="1400" dirty="0">
                <a:latin typeface="+mj-ea"/>
                <a:ea typeface="+mj-ea"/>
              </a:rPr>
              <a:t>번 출구의 하루 평균 온도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6" name="직사각형 10">
            <a:extLst>
              <a:ext uri="{FF2B5EF4-FFF2-40B4-BE49-F238E27FC236}">
                <a16:creationId xmlns:a16="http://schemas.microsoft.com/office/drawing/2014/main" id="{C5618337-162D-17A9-7534-ACFF2CBB6D3C}"/>
              </a:ext>
            </a:extLst>
          </p:cNvPr>
          <p:cNvSpPr/>
          <p:nvPr/>
        </p:nvSpPr>
        <p:spPr>
          <a:xfrm>
            <a:off x="2145151" y="1535629"/>
            <a:ext cx="478695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Durbin-Watson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테스트로 검출</a:t>
            </a: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Durbin-Watson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값이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1.5~2.5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으로 권장됨</a:t>
            </a: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11">
            <a:extLst>
              <a:ext uri="{FF2B5EF4-FFF2-40B4-BE49-F238E27FC236}">
                <a16:creationId xmlns:a16="http://schemas.microsoft.com/office/drawing/2014/main" id="{29AAE04E-0467-8A6D-C77C-8C47D943B20F}"/>
              </a:ext>
            </a:extLst>
          </p:cNvPr>
          <p:cNvSpPr/>
          <p:nvPr/>
        </p:nvSpPr>
        <p:spPr>
          <a:xfrm>
            <a:off x="3690102" y="4650097"/>
            <a:ext cx="478695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VIF (Variance Inflation Factor)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테스트로 해결</a:t>
            </a: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4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이상의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VIF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값을 가지면 위험하다고 판단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8" name="표 4">
            <a:extLst>
              <a:ext uri="{FF2B5EF4-FFF2-40B4-BE49-F238E27FC236}">
                <a16:creationId xmlns:a16="http://schemas.microsoft.com/office/drawing/2014/main" id="{C225BB98-DC3E-1C68-D14C-F5804B9CC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819673"/>
              </p:ext>
            </p:extLst>
          </p:nvPr>
        </p:nvGraphicFramePr>
        <p:xfrm>
          <a:off x="423740" y="1563216"/>
          <a:ext cx="1621192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596">
                  <a:extLst>
                    <a:ext uri="{9D8B030D-6E8A-4147-A177-3AD203B41FA5}">
                      <a16:colId xmlns:a16="http://schemas.microsoft.com/office/drawing/2014/main" val="1335956926"/>
                    </a:ext>
                  </a:extLst>
                </a:gridCol>
                <a:gridCol w="810596">
                  <a:extLst>
                    <a:ext uri="{9D8B030D-6E8A-4147-A177-3AD203B41FA5}">
                      <a16:colId xmlns:a16="http://schemas.microsoft.com/office/drawing/2014/main" val="2151304392"/>
                    </a:ext>
                  </a:extLst>
                </a:gridCol>
              </a:tblGrid>
              <a:tr h="247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Data</a:t>
                      </a:r>
                      <a:r>
                        <a:rPr lang="en-US" altLang="ko-KR" sz="1050" baseline="0" dirty="0"/>
                        <a:t> Point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Variable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287217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n-2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270208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n-1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0.2341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938679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0.3344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28491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288432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0.2341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83962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0.3344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22461"/>
                  </a:ext>
                </a:extLst>
              </a:tr>
            </a:tbl>
          </a:graphicData>
        </a:graphic>
      </p:graphicFrame>
      <p:graphicFrame>
        <p:nvGraphicFramePr>
          <p:cNvPr id="9" name="표 15">
            <a:extLst>
              <a:ext uri="{FF2B5EF4-FFF2-40B4-BE49-F238E27FC236}">
                <a16:creationId xmlns:a16="http://schemas.microsoft.com/office/drawing/2014/main" id="{FB8C6E89-BD3D-216A-C8FE-344F99BF7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843845"/>
              </p:ext>
            </p:extLst>
          </p:nvPr>
        </p:nvGraphicFramePr>
        <p:xfrm>
          <a:off x="423740" y="4650097"/>
          <a:ext cx="3192296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074">
                  <a:extLst>
                    <a:ext uri="{9D8B030D-6E8A-4147-A177-3AD203B41FA5}">
                      <a16:colId xmlns:a16="http://schemas.microsoft.com/office/drawing/2014/main" val="1335956926"/>
                    </a:ext>
                  </a:extLst>
                </a:gridCol>
                <a:gridCol w="798074">
                  <a:extLst>
                    <a:ext uri="{9D8B030D-6E8A-4147-A177-3AD203B41FA5}">
                      <a16:colId xmlns:a16="http://schemas.microsoft.com/office/drawing/2014/main" val="1996051986"/>
                    </a:ext>
                  </a:extLst>
                </a:gridCol>
                <a:gridCol w="798074">
                  <a:extLst>
                    <a:ext uri="{9D8B030D-6E8A-4147-A177-3AD203B41FA5}">
                      <a16:colId xmlns:a16="http://schemas.microsoft.com/office/drawing/2014/main" val="2151304392"/>
                    </a:ext>
                  </a:extLst>
                </a:gridCol>
                <a:gridCol w="798074">
                  <a:extLst>
                    <a:ext uri="{9D8B030D-6E8A-4147-A177-3AD203B41FA5}">
                      <a16:colId xmlns:a16="http://schemas.microsoft.com/office/drawing/2014/main" val="119300893"/>
                    </a:ext>
                  </a:extLst>
                </a:gridCol>
              </a:tblGrid>
              <a:tr h="247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Data</a:t>
                      </a:r>
                      <a:r>
                        <a:rPr lang="en-US" altLang="ko-KR" sz="1050" baseline="0" dirty="0"/>
                        <a:t> Point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Variable</a:t>
                      </a:r>
                      <a:r>
                        <a:rPr lang="ko-KR" altLang="en-US" sz="1050" baseline="0" dirty="0"/>
                        <a:t> </a:t>
                      </a:r>
                      <a:r>
                        <a:rPr lang="en-US" altLang="ko-KR" sz="1050" baseline="0" dirty="0"/>
                        <a:t>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Variable 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Variable</a:t>
                      </a:r>
                      <a:r>
                        <a:rPr lang="en-US" altLang="ko-KR" sz="1050" baseline="0" dirty="0"/>
                        <a:t> 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287217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n-2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1.2342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270208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n-1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0.1349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2.1349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938679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3.3344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28491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0.4342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4.4342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288432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0.5341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5.5341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83962"/>
                  </a:ext>
                </a:extLst>
              </a:tr>
              <a:tr h="234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n+3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0.7344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6.7344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22461"/>
                  </a:ext>
                </a:extLst>
              </a:tr>
            </a:tbl>
          </a:graphicData>
        </a:graphic>
      </p:graphicFrame>
      <p:sp>
        <p:nvSpPr>
          <p:cNvPr id="10" name="덧셈 기호 5">
            <a:extLst>
              <a:ext uri="{FF2B5EF4-FFF2-40B4-BE49-F238E27FC236}">
                <a16:creationId xmlns:a16="http://schemas.microsoft.com/office/drawing/2014/main" id="{E505C222-BF3A-A6F5-3FC0-3D682B8FDC4F}"/>
              </a:ext>
            </a:extLst>
          </p:cNvPr>
          <p:cNvSpPr/>
          <p:nvPr/>
        </p:nvSpPr>
        <p:spPr>
          <a:xfrm>
            <a:off x="1868128" y="5292674"/>
            <a:ext cx="303519" cy="30358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등호 6">
            <a:extLst>
              <a:ext uri="{FF2B5EF4-FFF2-40B4-BE49-F238E27FC236}">
                <a16:creationId xmlns:a16="http://schemas.microsoft.com/office/drawing/2014/main" id="{7C126BA7-58D2-326B-FE2F-77F47B5D3D0C}"/>
              </a:ext>
            </a:extLst>
          </p:cNvPr>
          <p:cNvSpPr/>
          <p:nvPr/>
        </p:nvSpPr>
        <p:spPr>
          <a:xfrm>
            <a:off x="2610197" y="5330916"/>
            <a:ext cx="415636" cy="27327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38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2FF0-EA02-236A-2630-890A9624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C819C63-6B11-D7A3-953F-26C64ED5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2. OLS </a:t>
            </a:r>
            <a:r>
              <a:rPr lang="ko-KR" altLang="en-US" sz="2400" b="1" dirty="0">
                <a:latin typeface="맑은 고딕" panose="020B0503020000020004" pitchFamily="50" charset="-127"/>
              </a:rPr>
              <a:t>소개</a:t>
            </a:r>
            <a:r>
              <a:rPr lang="en-US" altLang="ko-KR" sz="2400" b="1" dirty="0">
                <a:latin typeface="맑은 고딕" panose="020B0503020000020004" pitchFamily="50" charset="-127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 w="3175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Arial" panose="020B0604020202020204" pitchFamily="34" charset="0"/>
              </a:rPr>
              <a:t>: Auto correlation, multicollinearity, ANOVA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30" name="직사각형 2">
            <a:extLst>
              <a:ext uri="{FF2B5EF4-FFF2-40B4-BE49-F238E27FC236}">
                <a16:creationId xmlns:a16="http://schemas.microsoft.com/office/drawing/2014/main" id="{2A90B1D5-7A69-2516-6BC5-E6FF54D6AA3F}"/>
              </a:ext>
            </a:extLst>
          </p:cNvPr>
          <p:cNvSpPr/>
          <p:nvPr/>
        </p:nvSpPr>
        <p:spPr>
          <a:xfrm>
            <a:off x="317064" y="1117919"/>
            <a:ext cx="62969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데이터 </a:t>
            </a:r>
            <a:r>
              <a:rPr lang="ko-KR" altLang="en-US" dirty="0" err="1">
                <a:latin typeface="맑은 고딕" panose="020B0503020000020004" pitchFamily="50" charset="-127"/>
              </a:rPr>
              <a:t>베이스안에</a:t>
            </a:r>
            <a:r>
              <a:rPr lang="ko-KR" altLang="en-US" dirty="0">
                <a:latin typeface="맑은 고딕" panose="020B0503020000020004" pitchFamily="50" charset="-127"/>
              </a:rPr>
              <a:t> 같은 변수의 연속적인 데이터가 있을 때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(e.g. </a:t>
            </a:r>
            <a:r>
              <a:rPr lang="ko-KR" altLang="en-US" sz="1400" dirty="0">
                <a:latin typeface="+mj-ea"/>
                <a:ea typeface="+mj-ea"/>
              </a:rPr>
              <a:t>서울 시청역의 </a:t>
            </a:r>
            <a:r>
              <a:rPr lang="en-US" altLang="ko-KR" sz="1400" dirty="0">
                <a:latin typeface="+mj-ea"/>
                <a:ea typeface="+mj-ea"/>
              </a:rPr>
              <a:t>10</a:t>
            </a:r>
            <a:r>
              <a:rPr lang="ko-KR" altLang="en-US" sz="1400" dirty="0">
                <a:latin typeface="+mj-ea"/>
                <a:ea typeface="+mj-ea"/>
              </a:rPr>
              <a:t>번 출구의 화요일과 수요일 아침의 각각 인구 </a:t>
            </a:r>
            <a:r>
              <a:rPr lang="ko-KR" altLang="en-US" sz="1400" dirty="0" err="1">
                <a:latin typeface="+mj-ea"/>
                <a:ea typeface="+mj-ea"/>
              </a:rPr>
              <a:t>이동량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31" name="직사각형 7">
            <a:extLst>
              <a:ext uri="{FF2B5EF4-FFF2-40B4-BE49-F238E27FC236}">
                <a16:creationId xmlns:a16="http://schemas.microsoft.com/office/drawing/2014/main" id="{525DDE08-5954-5DD9-22B2-9FB13F44C930}"/>
              </a:ext>
            </a:extLst>
          </p:cNvPr>
          <p:cNvSpPr/>
          <p:nvPr/>
        </p:nvSpPr>
        <p:spPr>
          <a:xfrm>
            <a:off x="317064" y="82891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Auto correlation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sp>
        <p:nvSpPr>
          <p:cNvPr id="32" name="직사각형 8">
            <a:extLst>
              <a:ext uri="{FF2B5EF4-FFF2-40B4-BE49-F238E27FC236}">
                <a16:creationId xmlns:a16="http://schemas.microsoft.com/office/drawing/2014/main" id="{FC9D4B1A-674A-B7A3-E2FC-2579E9D27991}"/>
              </a:ext>
            </a:extLst>
          </p:cNvPr>
          <p:cNvSpPr/>
          <p:nvPr/>
        </p:nvSpPr>
        <p:spPr>
          <a:xfrm>
            <a:off x="317064" y="226147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Multicollinearity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sp>
        <p:nvSpPr>
          <p:cNvPr id="33" name="직사각형 9">
            <a:extLst>
              <a:ext uri="{FF2B5EF4-FFF2-40B4-BE49-F238E27FC236}">
                <a16:creationId xmlns:a16="http://schemas.microsoft.com/office/drawing/2014/main" id="{9F3CE7AE-03AC-DB0A-1966-AABB0164BDEA}"/>
              </a:ext>
            </a:extLst>
          </p:cNvPr>
          <p:cNvSpPr/>
          <p:nvPr/>
        </p:nvSpPr>
        <p:spPr>
          <a:xfrm>
            <a:off x="317064" y="2584637"/>
            <a:ext cx="85972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데이터 </a:t>
            </a:r>
            <a:r>
              <a:rPr lang="ko-KR" altLang="en-US" dirty="0" err="1">
                <a:latin typeface="맑은 고딕" panose="020B0503020000020004" pitchFamily="50" charset="-127"/>
              </a:rPr>
              <a:t>베이스안에</a:t>
            </a:r>
            <a:r>
              <a:rPr lang="ko-KR" altLang="en-US" dirty="0">
                <a:latin typeface="맑은 고딕" panose="020B0503020000020004" pitchFamily="50" charset="-127"/>
              </a:rPr>
              <a:t> 적어도 </a:t>
            </a:r>
            <a:r>
              <a:rPr lang="en-US" altLang="ko-KR" dirty="0">
                <a:latin typeface="맑은 고딕" panose="020B0503020000020004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</a:rPr>
              <a:t>개의 변수가 선형적인 특성이 있을 때 이 현상을 말함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(e.g. </a:t>
            </a:r>
            <a:r>
              <a:rPr lang="ko-KR" altLang="en-US" sz="1400" dirty="0">
                <a:latin typeface="+mj-ea"/>
                <a:ea typeface="+mj-ea"/>
              </a:rPr>
              <a:t>서울 시청역의 </a:t>
            </a:r>
            <a:r>
              <a:rPr lang="en-US" altLang="ko-KR" sz="1400" dirty="0">
                <a:latin typeface="+mj-ea"/>
                <a:ea typeface="+mj-ea"/>
              </a:rPr>
              <a:t>10</a:t>
            </a:r>
            <a:r>
              <a:rPr lang="ko-KR" altLang="en-US" sz="1400" dirty="0">
                <a:latin typeface="+mj-ea"/>
                <a:ea typeface="+mj-ea"/>
              </a:rPr>
              <a:t>번 출구의 하루 평균 온도와 </a:t>
            </a:r>
            <a:r>
              <a:rPr lang="en-US" altLang="ko-KR" sz="1400" dirty="0">
                <a:latin typeface="+mj-ea"/>
                <a:ea typeface="+mj-ea"/>
              </a:rPr>
              <a:t>9</a:t>
            </a:r>
            <a:r>
              <a:rPr lang="ko-KR" altLang="en-US" sz="1400" dirty="0">
                <a:latin typeface="+mj-ea"/>
                <a:ea typeface="+mj-ea"/>
              </a:rPr>
              <a:t>번 출구의 하루 평균 온도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34" name="직사각형 10">
            <a:extLst>
              <a:ext uri="{FF2B5EF4-FFF2-40B4-BE49-F238E27FC236}">
                <a16:creationId xmlns:a16="http://schemas.microsoft.com/office/drawing/2014/main" id="{CEE0C3D9-6D8C-776B-5DA5-6DE34B3840B0}"/>
              </a:ext>
            </a:extLst>
          </p:cNvPr>
          <p:cNvSpPr/>
          <p:nvPr/>
        </p:nvSpPr>
        <p:spPr>
          <a:xfrm>
            <a:off x="317064" y="1702694"/>
            <a:ext cx="478695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Durbin-Watson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테스트로 검출</a:t>
            </a: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직사각형 11">
            <a:extLst>
              <a:ext uri="{FF2B5EF4-FFF2-40B4-BE49-F238E27FC236}">
                <a16:creationId xmlns:a16="http://schemas.microsoft.com/office/drawing/2014/main" id="{A397C827-AFFC-08E5-29AE-E74FD5CA945D}"/>
              </a:ext>
            </a:extLst>
          </p:cNvPr>
          <p:cNvSpPr/>
          <p:nvPr/>
        </p:nvSpPr>
        <p:spPr>
          <a:xfrm>
            <a:off x="317064" y="3143415"/>
            <a:ext cx="478695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VIF (Variance Inflation Factor)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테스트로 해결</a:t>
            </a:r>
            <a:endParaRPr lang="en-US" altLang="ko-KR" sz="1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12">
            <a:extLst>
              <a:ext uri="{FF2B5EF4-FFF2-40B4-BE49-F238E27FC236}">
                <a16:creationId xmlns:a16="http://schemas.microsoft.com/office/drawing/2014/main" id="{CC6C12D6-980B-6DBA-06D7-5425F95286B2}"/>
              </a:ext>
            </a:extLst>
          </p:cNvPr>
          <p:cNvSpPr/>
          <p:nvPr/>
        </p:nvSpPr>
        <p:spPr>
          <a:xfrm>
            <a:off x="317063" y="3889772"/>
            <a:ext cx="42215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ANOVA (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ANalysis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Of Variance)</a:t>
            </a: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sp>
        <p:nvSpPr>
          <p:cNvPr id="37" name="직사각형 13">
            <a:extLst>
              <a:ext uri="{FF2B5EF4-FFF2-40B4-BE49-F238E27FC236}">
                <a16:creationId xmlns:a16="http://schemas.microsoft.com/office/drawing/2014/main" id="{82B83EF9-93C1-A1C6-1F1E-1DFDB15E9FBF}"/>
              </a:ext>
            </a:extLst>
          </p:cNvPr>
          <p:cNvSpPr/>
          <p:nvPr/>
        </p:nvSpPr>
        <p:spPr>
          <a:xfrm>
            <a:off x="317064" y="4212937"/>
            <a:ext cx="110065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/>
              <a:t>ANOVA</a:t>
            </a:r>
            <a:r>
              <a:rPr lang="ko-KR" altLang="en-US" sz="1600" b="1" dirty="0"/>
              <a:t>는 범주형 독립변수에 따라 세 개 이상 집단 간 종속변수 평균의 차이가 통계적으로 유의한지를 검정하는 방법이다</a:t>
            </a:r>
            <a:r>
              <a:rPr lang="en-US" altLang="ko-KR" sz="1600" b="1" dirty="0"/>
              <a:t>.</a:t>
            </a:r>
            <a:endParaRPr lang="ko-KR" altLang="en-US" sz="1600" dirty="0"/>
          </a:p>
          <a:p>
            <a:r>
              <a:rPr lang="ko-KR" altLang="en-US" sz="1600" b="1" dirty="0"/>
              <a:t>두 집단일 경우에는 </a:t>
            </a:r>
            <a:r>
              <a:rPr lang="en-US" sz="1600" b="1" dirty="0"/>
              <a:t>t-test</a:t>
            </a:r>
            <a:r>
              <a:rPr lang="ko-KR" altLang="en-US" sz="1600" b="1" dirty="0" err="1"/>
              <a:t>를</a:t>
            </a:r>
            <a:r>
              <a:rPr lang="ko-KR" altLang="en-US" sz="1600" b="1" dirty="0"/>
              <a:t> 사용하며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세 집단 이상에서는 </a:t>
            </a:r>
            <a:r>
              <a:rPr lang="en-US" sz="1600" b="1" dirty="0"/>
              <a:t>ANOVA</a:t>
            </a:r>
            <a:r>
              <a:rPr lang="ko-KR" altLang="en-US" sz="1600" b="1" dirty="0" err="1"/>
              <a:t>를</a:t>
            </a:r>
            <a:r>
              <a:rPr lang="ko-KR" altLang="en-US" sz="1600" b="1" dirty="0"/>
              <a:t> 사용한다</a:t>
            </a:r>
            <a:r>
              <a:rPr lang="en-US" altLang="ko-KR" sz="1600" b="1" dirty="0"/>
              <a:t>.</a:t>
            </a:r>
            <a:endParaRPr lang="ko-KR" altLang="en-US" sz="1600" dirty="0"/>
          </a:p>
          <a:p>
            <a:r>
              <a:rPr lang="ko-KR" altLang="en-US" sz="1600" b="1" dirty="0"/>
              <a:t>범주형 변수를 더미 변수로 변환해 </a:t>
            </a:r>
            <a:r>
              <a:rPr lang="en-US" sz="1600" b="1" dirty="0"/>
              <a:t>OLS </a:t>
            </a:r>
            <a:r>
              <a:rPr lang="ko-KR" altLang="en-US" sz="1600" b="1" dirty="0"/>
              <a:t>회귀를 수행할 경우</a:t>
            </a:r>
            <a:r>
              <a:rPr lang="en-US" altLang="ko-KR" sz="1600" b="1" dirty="0"/>
              <a:t>, </a:t>
            </a:r>
            <a:r>
              <a:rPr lang="en-US" sz="1600" b="1" dirty="0"/>
              <a:t>ANOVA</a:t>
            </a:r>
            <a:r>
              <a:rPr lang="ko-KR" altLang="en-US" sz="1600" b="1" dirty="0"/>
              <a:t>의 </a:t>
            </a:r>
            <a:r>
              <a:rPr lang="en-US" sz="1600" b="1" dirty="0"/>
              <a:t>F-test</a:t>
            </a:r>
            <a:r>
              <a:rPr lang="ko-KR" altLang="en-US" sz="1600" b="1" dirty="0"/>
              <a:t>와 동일한 검정 결과를 얻는다</a:t>
            </a:r>
            <a:r>
              <a:rPr lang="en-US" altLang="ko-KR" sz="1600" b="1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25075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02F0-1608-E208-C5C3-774F180C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943845EB-F93A-0611-FBB2-7CF8200B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3. </a:t>
            </a:r>
            <a:r>
              <a:rPr lang="ko-KR" altLang="en-US" sz="2400" b="1" dirty="0">
                <a:latin typeface="맑은 고딕" panose="020B0503020000020004" pitchFamily="50" charset="-127"/>
              </a:rPr>
              <a:t>전반적인 </a:t>
            </a:r>
            <a:r>
              <a:rPr lang="en-US" altLang="ko-KR" sz="2400" b="1" dirty="0">
                <a:latin typeface="맑은 고딕" panose="020B0503020000020004" pitchFamily="50" charset="-127"/>
              </a:rPr>
              <a:t>OLS</a:t>
            </a:r>
            <a:r>
              <a:rPr lang="ko-KR" altLang="en-US" sz="2400" b="1" dirty="0">
                <a:latin typeface="맑은 고딕" panose="020B0503020000020004" pitchFamily="50" charset="-127"/>
              </a:rPr>
              <a:t> 방법론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49E6A07A-B568-43CB-1120-6FD2E150CDA1}"/>
              </a:ext>
            </a:extLst>
          </p:cNvPr>
          <p:cNvSpPr/>
          <p:nvPr/>
        </p:nvSpPr>
        <p:spPr>
          <a:xfrm>
            <a:off x="414944" y="1086061"/>
            <a:ext cx="1133633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해당 업무에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Categorical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데이터가 연속적인 데이터와 같이 있다고 가정한다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</a:t>
            </a: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먼저 데이터 입력에서 연속적인 데이터를 찾아서 그 데이터들만 가지고 입력으로 처리를 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데이터에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Null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데이터가 있을 시에 이 데이터 처리를 위해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drop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knn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simple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imputer등의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방법론을 사용해서 처리를 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연속적인 입력 변수들이 정규분포를 가지고 있는지 파악하기 위해 히스토그램 분포를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플롯해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본다.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4에서 나온 데이터가 보기에도 한쪽으로 몰려 있는 것이 보일 때, 그 데이터를 적절하게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Quantile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작업을 시행한다. 이후 인덱스를 정리한다.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연속적인 데이터를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스켈링한다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 이후 학습용 데이터와 테스트용 데이터를 분리한다.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First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OLS를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돌려본다.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T-test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해서 나온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값을 가지고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Null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hypothesis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('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입력값들은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타겟 값과 연관성이 없다')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거부할 수 있는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타겟값과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연관성이 있는/혹은 없는 입력 데이터가 있는지 찾아 본다.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Adj_R-squared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AIC,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F-statistic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Durbin-Watson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Jarque-Bera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살펴보고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Adj_R-squared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값들이 충분히 1에 가까운지,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Durbin-Watson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값이 1.5~2.5 사이인지 체크한다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</a:t>
            </a: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8에서 나온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T-test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결과를 가지고 추출한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입력값을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가지고 다시 한번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OLS를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돌려본다 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Second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OLS)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이제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T-test에서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값을 가지고 검증된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입력값이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7번의 입력 데이터와 동일하면 이제 다음을 진행한다. 만약 또 다른 결과가 나오면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T-test를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통과할 때까지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입력을 바꾸면서 계속 반복적으로 진행한다.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11 번이 통과가 되면 11번의 마지막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Adj_R-squared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AIC,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F-statistic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Durbin-Watson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Jarque-Bera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값과 9번의 값에서 나온 같은 항목을 비교한다.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타겟 변수가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Categorical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일 경우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반드시 입력 개수에 따라서 type-1 혹은 type-2 ANOVA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test를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진행하여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multi-collinearity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문제가 있는지 판단한다.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T-test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및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값을 가지고 검증이 가능하다.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현재 이 데이터 베이스에서는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OLS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와 별 차이 없음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(3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개 이상이면 무조건</a:t>
            </a:r>
            <a:r>
              <a:rPr lang="ko-KR" altLang="en-US" sz="1000" b="1" kern="0" dirty="0">
                <a:solidFill>
                  <a:prstClr val="black"/>
                </a:solidFill>
              </a:rPr>
              <a:t> </a:t>
            </a:r>
            <a:r>
              <a:rPr lang="en-US" altLang="ko-KR" sz="1000" b="1" kern="0" dirty="0">
                <a:solidFill>
                  <a:prstClr val="black"/>
                </a:solidFill>
              </a:rPr>
              <a:t>ANOVA</a:t>
            </a:r>
            <a:r>
              <a:rPr lang="ko-KR" altLang="en-US" sz="1000" b="1" kern="0" dirty="0">
                <a:solidFill>
                  <a:prstClr val="black"/>
                </a:solidFill>
              </a:rPr>
              <a:t> 진행할 것</a:t>
            </a:r>
            <a:r>
              <a:rPr lang="en-US" altLang="ko-KR" sz="1000" b="1" kern="0" dirty="0">
                <a:solidFill>
                  <a:prstClr val="black"/>
                </a:solidFill>
              </a:rPr>
              <a:t>)</a:t>
            </a: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VIF 테스트를 진행한다. (4 이상이면 문제가 있음.)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6번에서 나온 테스트용 데이터에서 14번 항목까지 통과한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column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값에 해당하는 것을 가지고 다시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OLS를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루프로 돌려보고 통과할 때까지 검증한다.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VIF에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통과 못한 데이터가 영향을 줬기 때문)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15번의 루프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OLS를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통과한 데이터 입력을 가지고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inference를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돌려본다.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GT(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Ground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Truth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)가 있을 경우 MSE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를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보고 하고 테스트 완료 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만약 테스트 점수가 형편이 없을 때 6번으로 돌아가고 다음 작업을 진행한다.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Categorical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데이터가 없는 경우, 고객에게 데이터를 더 요청한다. 있는 경우 다음을 진행한다.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Categorical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데이터를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dummy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변수를 이용하여 입력 변수로 변환한다.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Dummy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변수의 이름에서 특수문자 및 공백을 없앤다. ('_'로 대체하거나 지워서 없앰) -&gt; 특수문자가 있을 때 ANOVA 테스트에서 이것이 문제가 됨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연속적인 데이터와 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Dummy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데이터를 합해서 입력으로 만든다.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28600" marR="0" lvl="0" indent="-2286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7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번 부터 17번까지 반복한다.</a:t>
            </a:r>
          </a:p>
        </p:txBody>
      </p:sp>
    </p:spTree>
    <p:extLst>
      <p:ext uri="{BB962C8B-B14F-4D97-AF65-F5344CB8AC3E}">
        <p14:creationId xmlns:p14="http://schemas.microsoft.com/office/powerpoint/2010/main" val="2167923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773C-0AB0-B366-8BC6-19DBEB30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5700B7E3-DD83-9A1E-49BC-E3B10773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4. </a:t>
            </a:r>
            <a:r>
              <a:rPr lang="ko-KR" altLang="en-US" sz="2400" b="1" dirty="0">
                <a:latin typeface="맑은 고딕" panose="020B0503020000020004" pitchFamily="50" charset="-127"/>
              </a:rPr>
              <a:t>실습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841451DA-DDDE-D6AC-454D-E491DC4B945B}"/>
              </a:ext>
            </a:extLst>
          </p:cNvPr>
          <p:cNvSpPr/>
          <p:nvPr/>
        </p:nvSpPr>
        <p:spPr>
          <a:xfrm>
            <a:off x="433442" y="785410"/>
            <a:ext cx="7835607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예제 </a:t>
            </a:r>
            <a:r>
              <a:rPr lang="en-US" altLang="ko-KR" dirty="0" err="1">
                <a:latin typeface="맑은 고딕" panose="020B0503020000020004" pitchFamily="50" charset="-127"/>
              </a:rPr>
              <a:t>Jupyter</a:t>
            </a:r>
            <a:r>
              <a:rPr lang="en-US" altLang="ko-KR" dirty="0">
                <a:latin typeface="맑은 고딕" panose="020B0503020000020004" pitchFamily="50" charset="-127"/>
              </a:rPr>
              <a:t> Notebook</a:t>
            </a:r>
            <a:r>
              <a:rPr lang="ko-KR" altLang="en-US" dirty="0">
                <a:latin typeface="맑은 고딕" panose="020B0503020000020004" pitchFamily="50" charset="-127"/>
              </a:rPr>
              <a:t>을 살펴보기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+mj-ea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" panose="020B0503020000020004" pitchFamily="50" charset="-127"/>
                <a:ea typeface="+mj-ea"/>
              </a:rPr>
              <a:t>Categorical </a:t>
            </a:r>
            <a:r>
              <a:rPr lang="ko-KR" altLang="en-US" sz="1400" dirty="0">
                <a:latin typeface="맑은 고딕" panose="020B0503020000020004" pitchFamily="50" charset="-127"/>
                <a:ea typeface="+mj-ea"/>
              </a:rPr>
              <a:t>데이터를 제외하고 시도한 것</a:t>
            </a:r>
            <a:r>
              <a:rPr lang="en-US" altLang="ko-KR" sz="1400" dirty="0">
                <a:latin typeface="맑은 고딕" panose="020B0503020000020004" pitchFamily="50" charset="-127"/>
                <a:ea typeface="+mj-ea"/>
              </a:rPr>
              <a:t>: </a:t>
            </a:r>
            <a:r>
              <a:rPr lang="en-US" altLang="ko-KR" sz="1400" dirty="0" err="1">
                <a:latin typeface="맑은 고딕" panose="020B0503020000020004" pitchFamily="50" charset="-127"/>
                <a:ea typeface="+mj-ea"/>
              </a:rPr>
              <a:t>data_refine_drop_method_dummy_scaling.ipynb</a:t>
            </a:r>
            <a:endParaRPr lang="en-US" altLang="ko-KR" sz="1400" dirty="0">
              <a:latin typeface="맑은 고딕" panose="020B0503020000020004" pitchFamily="50" charset="-127"/>
              <a:ea typeface="+mj-ea"/>
            </a:endParaRPr>
          </a:p>
          <a:p>
            <a:pPr marL="342900" indent="-342900">
              <a:buAutoNum type="arabicPeriod"/>
            </a:pPr>
            <a:endParaRPr lang="en-US" altLang="ko-KR" sz="1400" dirty="0">
              <a:latin typeface="맑은 고딕" panose="020B0503020000020004" pitchFamily="50" charset="-127"/>
              <a:ea typeface="+mj-ea"/>
            </a:endParaRP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맑은 고딕" panose="020B0503020000020004" pitchFamily="50" charset="-127"/>
                <a:ea typeface="+mj-ea"/>
              </a:rPr>
              <a:t>Categorical </a:t>
            </a:r>
            <a:r>
              <a:rPr lang="ko-KR" altLang="en-US" sz="1400" dirty="0">
                <a:latin typeface="맑은 고딕" panose="020B0503020000020004" pitchFamily="50" charset="-127"/>
                <a:ea typeface="+mj-ea"/>
              </a:rPr>
              <a:t>데이터를 추가하고 시도한 것</a:t>
            </a:r>
            <a:r>
              <a:rPr lang="en-US" altLang="ko-KR" sz="1400" dirty="0">
                <a:latin typeface="맑은 고딕" panose="020B0503020000020004" pitchFamily="50" charset="-127"/>
                <a:ea typeface="+mj-ea"/>
              </a:rPr>
              <a:t>: </a:t>
            </a:r>
            <a:r>
              <a:rPr lang="en-US" altLang="ko-KR" sz="1400" dirty="0" err="1">
                <a:latin typeface="맑은 고딕" panose="020B0503020000020004" pitchFamily="50" charset="-127"/>
                <a:ea typeface="+mj-ea"/>
              </a:rPr>
              <a:t>data_refine_drop_method.ipynb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2560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C479-FBD2-7EF0-8C23-2AD3E4F0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A761D098-2D8D-6D38-A0D6-248F0EF1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5. </a:t>
            </a:r>
            <a:r>
              <a:rPr lang="ko-KR" altLang="en-US" sz="2400" b="1" dirty="0">
                <a:latin typeface="맑은 고딕" panose="020B0503020000020004" pitchFamily="50" charset="-127"/>
              </a:rPr>
              <a:t>변수 설명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007A6-D4DC-4027-7A5F-E2C6C25655DB}"/>
              </a:ext>
            </a:extLst>
          </p:cNvPr>
          <p:cNvSpPr txBox="1">
            <a:spLocks/>
          </p:cNvSpPr>
          <p:nvPr/>
        </p:nvSpPr>
        <p:spPr>
          <a:xfrm>
            <a:off x="415926" y="701675"/>
            <a:ext cx="9100870" cy="21230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입력값에는 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가지의 타입이 존재한다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4" name="그림 8">
            <a:extLst>
              <a:ext uri="{FF2B5EF4-FFF2-40B4-BE49-F238E27FC236}">
                <a16:creationId xmlns:a16="http://schemas.microsoft.com/office/drawing/2014/main" id="{D4134CDA-1CC5-AF0D-1EFF-08092C38C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3" y="1308188"/>
            <a:ext cx="9159090" cy="2306438"/>
          </a:xfrm>
          <a:prstGeom prst="rect">
            <a:avLst/>
          </a:prstGeom>
        </p:spPr>
      </p:pic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188CC0A2-7230-4595-5F12-111C986C6FEB}"/>
              </a:ext>
            </a:extLst>
          </p:cNvPr>
          <p:cNvSpPr txBox="1">
            <a:spLocks/>
          </p:cNvSpPr>
          <p:nvPr/>
        </p:nvSpPr>
        <p:spPr>
          <a:xfrm>
            <a:off x="415925" y="4008837"/>
            <a:ext cx="11375581" cy="52007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600"/>
              </a:spcBef>
              <a:buAutoNum type="arabicPeriod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연속적인 데이터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주로 기본적인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OLS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 계산에 사용된다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800"/>
              </a:lnSpc>
              <a:spcBef>
                <a:spcPts val="600"/>
              </a:spcBef>
              <a:buAutoNum type="arabicPeriod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Categorical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 데이터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만약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번의 연속적인 데이터가 불충분한 결과를 유도하면 이 데이터도 추가해서 더미 변수를 할당해서 사용한다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6" name="직사각형 11">
            <a:extLst>
              <a:ext uri="{FF2B5EF4-FFF2-40B4-BE49-F238E27FC236}">
                <a16:creationId xmlns:a16="http://schemas.microsoft.com/office/drawing/2014/main" id="{49A8F3DD-CAEA-74B3-4C78-6EDD3E7A7DAA}"/>
              </a:ext>
            </a:extLst>
          </p:cNvPr>
          <p:cNvSpPr/>
          <p:nvPr/>
        </p:nvSpPr>
        <p:spPr>
          <a:xfrm>
            <a:off x="1945178" y="1745673"/>
            <a:ext cx="759230" cy="186895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25">
            <a:extLst>
              <a:ext uri="{FF2B5EF4-FFF2-40B4-BE49-F238E27FC236}">
                <a16:creationId xmlns:a16="http://schemas.microsoft.com/office/drawing/2014/main" id="{DCC3A8FE-9E75-F5D6-D41D-BAABA49FB5CD}"/>
              </a:ext>
            </a:extLst>
          </p:cNvPr>
          <p:cNvSpPr/>
          <p:nvPr/>
        </p:nvSpPr>
        <p:spPr>
          <a:xfrm>
            <a:off x="3891823" y="1745491"/>
            <a:ext cx="718436" cy="186895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26">
            <a:extLst>
              <a:ext uri="{FF2B5EF4-FFF2-40B4-BE49-F238E27FC236}">
                <a16:creationId xmlns:a16="http://schemas.microsoft.com/office/drawing/2014/main" id="{86B4D687-88AF-2F6E-026A-9890B25B8805}"/>
              </a:ext>
            </a:extLst>
          </p:cNvPr>
          <p:cNvSpPr/>
          <p:nvPr/>
        </p:nvSpPr>
        <p:spPr>
          <a:xfrm>
            <a:off x="4714549" y="1745492"/>
            <a:ext cx="831273" cy="186895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27">
            <a:extLst>
              <a:ext uri="{FF2B5EF4-FFF2-40B4-BE49-F238E27FC236}">
                <a16:creationId xmlns:a16="http://schemas.microsoft.com/office/drawing/2014/main" id="{D7726729-9005-C5A5-35B8-265EAD77AEE9}"/>
              </a:ext>
            </a:extLst>
          </p:cNvPr>
          <p:cNvSpPr/>
          <p:nvPr/>
        </p:nvSpPr>
        <p:spPr>
          <a:xfrm>
            <a:off x="7739149" y="1745492"/>
            <a:ext cx="590204" cy="186895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28">
            <a:extLst>
              <a:ext uri="{FF2B5EF4-FFF2-40B4-BE49-F238E27FC236}">
                <a16:creationId xmlns:a16="http://schemas.microsoft.com/office/drawing/2014/main" id="{B8E97BDB-CF74-50BF-E231-F64D6411C827}"/>
              </a:ext>
            </a:extLst>
          </p:cNvPr>
          <p:cNvSpPr/>
          <p:nvPr/>
        </p:nvSpPr>
        <p:spPr>
          <a:xfrm>
            <a:off x="590205" y="1745491"/>
            <a:ext cx="1314178" cy="186895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29">
            <a:extLst>
              <a:ext uri="{FF2B5EF4-FFF2-40B4-BE49-F238E27FC236}">
                <a16:creationId xmlns:a16="http://schemas.microsoft.com/office/drawing/2014/main" id="{72B6AE98-4100-5201-7CDE-96F4601E3507}"/>
              </a:ext>
            </a:extLst>
          </p:cNvPr>
          <p:cNvSpPr/>
          <p:nvPr/>
        </p:nvSpPr>
        <p:spPr>
          <a:xfrm>
            <a:off x="2745203" y="1745491"/>
            <a:ext cx="1056484" cy="186895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30">
            <a:extLst>
              <a:ext uri="{FF2B5EF4-FFF2-40B4-BE49-F238E27FC236}">
                <a16:creationId xmlns:a16="http://schemas.microsoft.com/office/drawing/2014/main" id="{D102490E-975E-6CBF-DBED-618686FF0577}"/>
              </a:ext>
            </a:extLst>
          </p:cNvPr>
          <p:cNvSpPr/>
          <p:nvPr/>
        </p:nvSpPr>
        <p:spPr>
          <a:xfrm>
            <a:off x="5749852" y="1745490"/>
            <a:ext cx="845729" cy="186895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31">
            <a:extLst>
              <a:ext uri="{FF2B5EF4-FFF2-40B4-BE49-F238E27FC236}">
                <a16:creationId xmlns:a16="http://schemas.microsoft.com/office/drawing/2014/main" id="{E19A6A6D-205D-3233-3C1B-5A3B80016D9D}"/>
              </a:ext>
            </a:extLst>
          </p:cNvPr>
          <p:cNvSpPr/>
          <p:nvPr/>
        </p:nvSpPr>
        <p:spPr>
          <a:xfrm>
            <a:off x="7165571" y="1745490"/>
            <a:ext cx="535297" cy="186895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32">
            <a:extLst>
              <a:ext uri="{FF2B5EF4-FFF2-40B4-BE49-F238E27FC236}">
                <a16:creationId xmlns:a16="http://schemas.microsoft.com/office/drawing/2014/main" id="{E14FA533-77C4-3489-65B2-5B5358AFD6AC}"/>
              </a:ext>
            </a:extLst>
          </p:cNvPr>
          <p:cNvSpPr/>
          <p:nvPr/>
        </p:nvSpPr>
        <p:spPr>
          <a:xfrm>
            <a:off x="8354290" y="1745489"/>
            <a:ext cx="1003749" cy="186895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33">
            <a:extLst>
              <a:ext uri="{FF2B5EF4-FFF2-40B4-BE49-F238E27FC236}">
                <a16:creationId xmlns:a16="http://schemas.microsoft.com/office/drawing/2014/main" id="{DB07B966-CF3B-4050-151A-F6585C7411B1}"/>
              </a:ext>
            </a:extLst>
          </p:cNvPr>
          <p:cNvSpPr/>
          <p:nvPr/>
        </p:nvSpPr>
        <p:spPr>
          <a:xfrm>
            <a:off x="665018" y="4272741"/>
            <a:ext cx="1878677" cy="28263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34">
            <a:extLst>
              <a:ext uri="{FF2B5EF4-FFF2-40B4-BE49-F238E27FC236}">
                <a16:creationId xmlns:a16="http://schemas.microsoft.com/office/drawing/2014/main" id="{4872D3C0-3447-A078-20BF-39E368D4083F}"/>
              </a:ext>
            </a:extLst>
          </p:cNvPr>
          <p:cNvSpPr/>
          <p:nvPr/>
        </p:nvSpPr>
        <p:spPr>
          <a:xfrm>
            <a:off x="665018" y="3950946"/>
            <a:ext cx="1463040" cy="282632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8">
            <a:extLst>
              <a:ext uri="{FF2B5EF4-FFF2-40B4-BE49-F238E27FC236}">
                <a16:creationId xmlns:a16="http://schemas.microsoft.com/office/drawing/2014/main" id="{50E882BA-C21D-4CA9-8708-37CFE3CA2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01" y="5042182"/>
            <a:ext cx="673511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1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ADBD-C06F-731B-C873-F2DFE86B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9E08A51-75D2-A508-811C-95594230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5. </a:t>
            </a:r>
            <a:r>
              <a:rPr lang="ko-KR" altLang="en-US" sz="2400" b="1" dirty="0">
                <a:latin typeface="맑은 고딕" panose="020B0503020000020004" pitchFamily="50" charset="-127"/>
              </a:rPr>
              <a:t>변수 설명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E592F0C7-9E41-0E5B-E9BD-B757A6CB58CB}"/>
              </a:ext>
            </a:extLst>
          </p:cNvPr>
          <p:cNvSpPr txBox="1">
            <a:spLocks/>
          </p:cNvSpPr>
          <p:nvPr/>
        </p:nvSpPr>
        <p:spPr>
          <a:xfrm>
            <a:off x="416100" y="3429851"/>
            <a:ext cx="8413702" cy="343831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Dep. Variable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타겟값을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말한다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Model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사용된 방법론을 말한다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R-Squared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주어진 데이터 베이스에서 알려지지 않은 분산 대비 이 모델로 알려진 모델의 분산의 비율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1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가까워지면 가까워질 수록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</a:rPr>
              <a:t>선택된 입력들은 이 데이터 베이스를 잘 설명해준다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라고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할 수가 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입력의 개수가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개일 때만 의미가 있으며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 이상일 때에는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Adjusted R-Squared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를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사용한다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en-US" altLang="ko-KR" sz="1200" b="1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Adjusted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R-Squared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개 이상일 때의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R-Squared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값이며 공식에 따라 항상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R-Squared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 보다 조금 작다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lang="ko-KR" altLang="en-US" sz="1200" b="1" u="sng" dirty="0"/>
              <a:t>모델 비교 시 더 신뢰할 수 있는 지표</a:t>
            </a:r>
            <a:endParaRPr lang="en-US" altLang="ko-KR" sz="1200" b="1" u="sng" dirty="0"/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F-statistic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주어진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null hypothesis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대비 얼마나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alternative hypothesis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를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설명해주는지 지표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 값은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항상 상대적이라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변수가 추가되거나 삭제되었을 때를 보고 변수 구성에 따라 상대적으로 평가한다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AIC: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Akaike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Information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Criterion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약자이며 선택된 변수로 만들어진 모델이 얼마나 예측 과정시에 에러가 적은지를 말해주는 지표로서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마이너스 로그의 형태를 띄고 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 지표도 역시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항상 상대적인 지표라서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변수가 추가되거나 삭제되었을 때를 기준으로 얼마나 더 작아졌는지에 따라 성능이 올라가는지 알 수 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상대적으로 작은 값이 나와야 좋은 모델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Hirotugu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Akaike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 고안해 낸 것이라 본인의 이름을 따서 명명되었다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grpSp>
        <p:nvGrpSpPr>
          <p:cNvPr id="19" name="그룹 3">
            <a:extLst>
              <a:ext uri="{FF2B5EF4-FFF2-40B4-BE49-F238E27FC236}">
                <a16:creationId xmlns:a16="http://schemas.microsoft.com/office/drawing/2014/main" id="{D08D705D-B2EB-4D32-0008-8A9453445360}"/>
              </a:ext>
            </a:extLst>
          </p:cNvPr>
          <p:cNvGrpSpPr/>
          <p:nvPr/>
        </p:nvGrpSpPr>
        <p:grpSpPr>
          <a:xfrm>
            <a:off x="2526589" y="886321"/>
            <a:ext cx="3991532" cy="2543530"/>
            <a:chOff x="2709469" y="886321"/>
            <a:chExt cx="3991532" cy="2543530"/>
          </a:xfrm>
        </p:grpSpPr>
        <p:pic>
          <p:nvPicPr>
            <p:cNvPr id="20" name="그림 2">
              <a:extLst>
                <a:ext uri="{FF2B5EF4-FFF2-40B4-BE49-F238E27FC236}">
                  <a16:creationId xmlns:a16="http://schemas.microsoft.com/office/drawing/2014/main" id="{C0B20A1E-3AA8-5EFA-8A12-7427C3749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9469" y="886321"/>
              <a:ext cx="3991532" cy="2543530"/>
            </a:xfrm>
            <a:prstGeom prst="rect">
              <a:avLst/>
            </a:prstGeom>
          </p:spPr>
        </p:pic>
        <p:sp>
          <p:nvSpPr>
            <p:cNvPr id="21" name="직사각형 23">
              <a:extLst>
                <a:ext uri="{FF2B5EF4-FFF2-40B4-BE49-F238E27FC236}">
                  <a16:creationId xmlns:a16="http://schemas.microsoft.com/office/drawing/2014/main" id="{8CD4239D-68BD-3BF7-EAFF-C63BD7735CE2}"/>
                </a:ext>
              </a:extLst>
            </p:cNvPr>
            <p:cNvSpPr/>
            <p:nvPr/>
          </p:nvSpPr>
          <p:spPr>
            <a:xfrm>
              <a:off x="5774790" y="2289006"/>
              <a:ext cx="343377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4">
              <a:extLst>
                <a:ext uri="{FF2B5EF4-FFF2-40B4-BE49-F238E27FC236}">
                  <a16:creationId xmlns:a16="http://schemas.microsoft.com/office/drawing/2014/main" id="{E9AC3D13-6B8F-A8EC-79CC-0F39888F8FAD}"/>
                </a:ext>
              </a:extLst>
            </p:cNvPr>
            <p:cNvSpPr/>
            <p:nvPr/>
          </p:nvSpPr>
          <p:spPr>
            <a:xfrm>
              <a:off x="5431413" y="1468632"/>
              <a:ext cx="686754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35">
              <a:extLst>
                <a:ext uri="{FF2B5EF4-FFF2-40B4-BE49-F238E27FC236}">
                  <a16:creationId xmlns:a16="http://schemas.microsoft.com/office/drawing/2014/main" id="{2C541729-7247-F6C6-2B07-C0AC8DD59623}"/>
                </a:ext>
              </a:extLst>
            </p:cNvPr>
            <p:cNvSpPr/>
            <p:nvPr/>
          </p:nvSpPr>
          <p:spPr>
            <a:xfrm>
              <a:off x="5345083" y="922761"/>
              <a:ext cx="773084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36">
              <a:extLst>
                <a:ext uri="{FF2B5EF4-FFF2-40B4-BE49-F238E27FC236}">
                  <a16:creationId xmlns:a16="http://schemas.microsoft.com/office/drawing/2014/main" id="{9E1D2597-0178-E797-B067-7FE08C99F7CF}"/>
                </a:ext>
              </a:extLst>
            </p:cNvPr>
            <p:cNvSpPr/>
            <p:nvPr/>
          </p:nvSpPr>
          <p:spPr>
            <a:xfrm>
              <a:off x="5134685" y="1201571"/>
              <a:ext cx="983482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37">
              <a:extLst>
                <a:ext uri="{FF2B5EF4-FFF2-40B4-BE49-F238E27FC236}">
                  <a16:creationId xmlns:a16="http://schemas.microsoft.com/office/drawing/2014/main" id="{4076EF3C-965D-D48B-53E6-23A055A40E5D}"/>
                </a:ext>
              </a:extLst>
            </p:cNvPr>
            <p:cNvSpPr/>
            <p:nvPr/>
          </p:nvSpPr>
          <p:spPr>
            <a:xfrm>
              <a:off x="3325137" y="1171191"/>
              <a:ext cx="573532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38">
              <a:extLst>
                <a:ext uri="{FF2B5EF4-FFF2-40B4-BE49-F238E27FC236}">
                  <a16:creationId xmlns:a16="http://schemas.microsoft.com/office/drawing/2014/main" id="{09A874BB-779E-C487-543B-8474A9CE096C}"/>
                </a:ext>
              </a:extLst>
            </p:cNvPr>
            <p:cNvSpPr/>
            <p:nvPr/>
          </p:nvSpPr>
          <p:spPr>
            <a:xfrm>
              <a:off x="2933171" y="891505"/>
              <a:ext cx="965497" cy="274503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028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C8A2-5297-48ED-E8E2-87B54D20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0410AB9E-DCA0-BB34-84FB-AC375E7E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5. </a:t>
            </a:r>
            <a:r>
              <a:rPr lang="ko-KR" altLang="en-US" sz="2400" b="1" dirty="0">
                <a:latin typeface="맑은 고딕" panose="020B0503020000020004" pitchFamily="50" charset="-127"/>
              </a:rPr>
              <a:t>변수 설명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FB5342-3101-09D7-F628-CE6987809C4E}"/>
              </a:ext>
            </a:extLst>
          </p:cNvPr>
          <p:cNvSpPr txBox="1">
            <a:spLocks/>
          </p:cNvSpPr>
          <p:nvPr/>
        </p:nvSpPr>
        <p:spPr>
          <a:xfrm>
            <a:off x="299722" y="811342"/>
            <a:ext cx="8413702" cy="89915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BIC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Bayesian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Information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Criterion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약자이며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AIC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와 비슷한 내용을 커버하며 다만 방법론에서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Bayesian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방법을 사용한다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 변수 역시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항상 상대적인 지표라서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변수가 추가되거나 삭제되었을 때를 기준으로 얼마나 더 작아졌는지에 따라 성능이 올라가는지 알 수 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상대적으로 작은 값이 나와야 좋은 모델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AIC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보다 더 페널티를 부가하여 보는 방법이다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7058BADD-4E29-91D1-933A-6D6EC83DB8BB}"/>
              </a:ext>
            </a:extLst>
          </p:cNvPr>
          <p:cNvSpPr txBox="1">
            <a:spLocks/>
          </p:cNvSpPr>
          <p:nvPr/>
        </p:nvSpPr>
        <p:spPr>
          <a:xfrm>
            <a:off x="299722" y="1838508"/>
            <a:ext cx="8413702" cy="20666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참조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AIC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만으로도 충분히 커버가 되므로 같은 모델에 대해서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BIC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는 고려하지 않아도 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3">
            <a:extLst>
              <a:ext uri="{FF2B5EF4-FFF2-40B4-BE49-F238E27FC236}">
                <a16:creationId xmlns:a16="http://schemas.microsoft.com/office/drawing/2014/main" id="{AC079B68-192F-A490-7829-27A1E8413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50" y="2468784"/>
            <a:ext cx="4829849" cy="1371791"/>
          </a:xfrm>
          <a:prstGeom prst="rect">
            <a:avLst/>
          </a:prstGeom>
        </p:spPr>
      </p:pic>
      <p:sp>
        <p:nvSpPr>
          <p:cNvPr id="6" name="직사각형 12">
            <a:extLst>
              <a:ext uri="{FF2B5EF4-FFF2-40B4-BE49-F238E27FC236}">
                <a16:creationId xmlns:a16="http://schemas.microsoft.com/office/drawing/2014/main" id="{72D0A6AA-181A-B89B-40A3-1CD2F6BFDD4E}"/>
              </a:ext>
            </a:extLst>
          </p:cNvPr>
          <p:cNvSpPr/>
          <p:nvPr/>
        </p:nvSpPr>
        <p:spPr>
          <a:xfrm>
            <a:off x="3438914" y="2468784"/>
            <a:ext cx="343377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13">
            <a:extLst>
              <a:ext uri="{FF2B5EF4-FFF2-40B4-BE49-F238E27FC236}">
                <a16:creationId xmlns:a16="http://schemas.microsoft.com/office/drawing/2014/main" id="{639DCD6F-4A32-C987-3FC2-5A52377A51CE}"/>
              </a:ext>
            </a:extLst>
          </p:cNvPr>
          <p:cNvSpPr/>
          <p:nvPr/>
        </p:nvSpPr>
        <p:spPr>
          <a:xfrm>
            <a:off x="4874462" y="2468784"/>
            <a:ext cx="404120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14">
            <a:extLst>
              <a:ext uri="{FF2B5EF4-FFF2-40B4-BE49-F238E27FC236}">
                <a16:creationId xmlns:a16="http://schemas.microsoft.com/office/drawing/2014/main" id="{162FC781-7D6B-94DA-77E6-76AC7F3B5360}"/>
              </a:ext>
            </a:extLst>
          </p:cNvPr>
          <p:cNvSpPr/>
          <p:nvPr/>
        </p:nvSpPr>
        <p:spPr>
          <a:xfrm>
            <a:off x="4588625" y="2468784"/>
            <a:ext cx="260898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F93670E1-6B8C-BBD6-E26B-9B7F9F387F23}"/>
              </a:ext>
            </a:extLst>
          </p:cNvPr>
          <p:cNvSpPr txBox="1">
            <a:spLocks/>
          </p:cNvSpPr>
          <p:nvPr/>
        </p:nvSpPr>
        <p:spPr>
          <a:xfrm>
            <a:off x="512223" y="4264191"/>
            <a:ext cx="8413702" cy="207749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600" b="1" kern="1200" spc="0" baseline="0" dirty="0" smtClean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맑은 고딕" pitchFamily="50" charset="-127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선형 회귀 분석에서 계수를 말한다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const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Y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축과 교차되는 상수를 말한다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t: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student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t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검정에서 나오는 그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값을 말한다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b="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P&gt;|t|:</a:t>
            </a:r>
            <a:r>
              <a:rPr lang="en-US" altLang="ko-KR" sz="1200" b="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student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t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검정에서 나오는 그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값에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해당하는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 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값을 말한다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b="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endParaRPr lang="en-US" altLang="ko-KR" sz="12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위에서 보이는 바 대로 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Price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는 다음과 같이 예측이 될 수 있다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해당되는 브랜드에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1,</a:t>
            </a:r>
            <a:r>
              <a:rPr lang="ko-KR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아니면 </a:t>
            </a:r>
            <a:r>
              <a:rPr lang="en-US" altLang="ko-KR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0)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Price = -0.0456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brand_Audi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x 0.2829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brand_BMW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x 0.5480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brand_MercedesBenz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x 0.4606 + ….</a:t>
            </a:r>
          </a:p>
        </p:txBody>
      </p:sp>
    </p:spTree>
    <p:extLst>
      <p:ext uri="{BB962C8B-B14F-4D97-AF65-F5344CB8AC3E}">
        <p14:creationId xmlns:p14="http://schemas.microsoft.com/office/powerpoint/2010/main" val="194567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A8A4-4911-9521-C19D-5BA663AA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24A2F8B-25F6-32C2-E4A0-5CD1D8E9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5. </a:t>
            </a:r>
            <a:r>
              <a:rPr lang="ko-KR" altLang="en-US" sz="2400" b="1" dirty="0">
                <a:latin typeface="맑은 고딕" panose="020B0503020000020004" pitchFamily="50" charset="-127"/>
              </a:rPr>
              <a:t>변수 설명</a:t>
            </a:r>
            <a:endParaRPr lang="en-US" altLang="ko-KR" sz="2400" b="1" dirty="0">
              <a:latin typeface="+mn-ea"/>
              <a:ea typeface="+mn-ea"/>
            </a:endParaRP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A6CD2DC9-D748-3DC6-04FC-C218322C9691}"/>
              </a:ext>
            </a:extLst>
          </p:cNvPr>
          <p:cNvSpPr txBox="1">
            <a:spLocks/>
          </p:cNvSpPr>
          <p:nvPr/>
        </p:nvSpPr>
        <p:spPr>
          <a:xfrm>
            <a:off x="565729" y="2474343"/>
            <a:ext cx="8413702" cy="351525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Durbin-Watson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변수로 채택된 것 중에서 같은 변수의 연속적인 같은 값을 가지는 데이터가 있을 때 이를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Auto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Correlation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이라고 하며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예를 들면 어떤 변수가 날자 포인트를 몇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십개를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지나도 비슷한 값을 유지하는 상태를 말한다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예를 들면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sine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커브 같이 반복적인 신호 같은 것을 말하며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Durbin-Watson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테스트의 값이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1.5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미만이거나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2.5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초과된 값을 가지게 된다면 자기 상관 관계라는 의미다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일반적으로 추천되는 값의 분포는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1.5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2.5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사이를 가져야 하며 이 지표는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절대적으로 중요하며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1.5-2.5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범위가 아니면 데이터 정리를 해야 한다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Skew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데이터 분포가 대칭형을 나타내는지를 보여주는 지표이며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0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가까워질 수록 정규분포화 되었다고 할 수가 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 값은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Jarque-Bera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(JB)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Omnibus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값에 영향을 끼친다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Kurtosis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데이터가 한쪽 끝으로 몰리는 현상을 말해주는 지표이며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뾰족해질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수록 이 값은 커지며 이 값 역시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Jarque-Bera(JB)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Omnibus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값에 영향을 끼친다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Jarque-Bera(JB)/Prob(JB):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데이터 분포도를 측정하는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Skew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Kurtosis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 값을 가지고 데이터 셋의 정규분포도를 판단하는 지표이며 </a:t>
            </a:r>
            <a:r>
              <a:rPr lang="ko-KR" altLang="en-US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상대적인 지표이다</a:t>
            </a: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정규분포가 되면 될 수록 이 값은 적은 값을 가지게 되며 만약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OLS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시도할 때 몇번의 데이터를 걸러내는 작업이 있었다면 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Jarque-Bera(JB)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값은 그 결과 자연스럽게 올라가게 된다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0" indent="0">
              <a:lnSpc>
                <a:spcPts val="18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Omnibus/Prob(Omnibus):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여기서 언급되는 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Omnibus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테스트는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OLS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의 에러의 정규 분포가 되었는지 아닌지를 판단하는 지표이다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에러가 비정규적으로 분포가 된다면 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Prob(Omnibus)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값은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가까워진다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</a:p>
        </p:txBody>
      </p:sp>
      <p:pic>
        <p:nvPicPr>
          <p:cNvPr id="10" name="그림 2">
            <a:extLst>
              <a:ext uri="{FF2B5EF4-FFF2-40B4-BE49-F238E27FC236}">
                <a16:creationId xmlns:a16="http://schemas.microsoft.com/office/drawing/2014/main" id="{5806B154-E169-9B68-1E9F-997B61C7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773" y="753086"/>
            <a:ext cx="3581900" cy="1162212"/>
          </a:xfrm>
          <a:prstGeom prst="rect">
            <a:avLst/>
          </a:prstGeom>
        </p:spPr>
      </p:pic>
      <p:sp>
        <p:nvSpPr>
          <p:cNvPr id="11" name="직사각형 16">
            <a:extLst>
              <a:ext uri="{FF2B5EF4-FFF2-40B4-BE49-F238E27FC236}">
                <a16:creationId xmlns:a16="http://schemas.microsoft.com/office/drawing/2014/main" id="{9125BBCA-3A29-977F-9439-29CFF4712A10}"/>
              </a:ext>
            </a:extLst>
          </p:cNvPr>
          <p:cNvSpPr/>
          <p:nvPr/>
        </p:nvSpPr>
        <p:spPr>
          <a:xfrm>
            <a:off x="4658471" y="818224"/>
            <a:ext cx="1068998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7">
            <a:extLst>
              <a:ext uri="{FF2B5EF4-FFF2-40B4-BE49-F238E27FC236}">
                <a16:creationId xmlns:a16="http://schemas.microsoft.com/office/drawing/2014/main" id="{7AD68E98-BB4C-628E-A5AA-4DC4F26ABAC5}"/>
              </a:ext>
            </a:extLst>
          </p:cNvPr>
          <p:cNvSpPr/>
          <p:nvPr/>
        </p:nvSpPr>
        <p:spPr>
          <a:xfrm>
            <a:off x="4658471" y="1101040"/>
            <a:ext cx="1068998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9">
            <a:extLst>
              <a:ext uri="{FF2B5EF4-FFF2-40B4-BE49-F238E27FC236}">
                <a16:creationId xmlns:a16="http://schemas.microsoft.com/office/drawing/2014/main" id="{C6686299-5830-0BF6-09A7-C7F107DBC8C3}"/>
              </a:ext>
            </a:extLst>
          </p:cNvPr>
          <p:cNvSpPr/>
          <p:nvPr/>
        </p:nvSpPr>
        <p:spPr>
          <a:xfrm>
            <a:off x="2907381" y="1092727"/>
            <a:ext cx="1068998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8">
            <a:extLst>
              <a:ext uri="{FF2B5EF4-FFF2-40B4-BE49-F238E27FC236}">
                <a16:creationId xmlns:a16="http://schemas.microsoft.com/office/drawing/2014/main" id="{9EA474F2-C6C0-28E1-E331-6F6DEF2F58B9}"/>
              </a:ext>
            </a:extLst>
          </p:cNvPr>
          <p:cNvSpPr/>
          <p:nvPr/>
        </p:nvSpPr>
        <p:spPr>
          <a:xfrm>
            <a:off x="3474719" y="1386436"/>
            <a:ext cx="495051" cy="257208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9">
            <a:extLst>
              <a:ext uri="{FF2B5EF4-FFF2-40B4-BE49-F238E27FC236}">
                <a16:creationId xmlns:a16="http://schemas.microsoft.com/office/drawing/2014/main" id="{AE69F228-F500-5B72-EBE2-3BFD1411BF15}"/>
              </a:ext>
            </a:extLst>
          </p:cNvPr>
          <p:cNvSpPr/>
          <p:nvPr/>
        </p:nvSpPr>
        <p:spPr>
          <a:xfrm>
            <a:off x="3336174" y="1658090"/>
            <a:ext cx="640205" cy="257208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0">
            <a:extLst>
              <a:ext uri="{FF2B5EF4-FFF2-40B4-BE49-F238E27FC236}">
                <a16:creationId xmlns:a16="http://schemas.microsoft.com/office/drawing/2014/main" id="{27ADFC61-7552-539A-7362-18F1573E1C21}"/>
              </a:ext>
            </a:extLst>
          </p:cNvPr>
          <p:cNvSpPr/>
          <p:nvPr/>
        </p:nvSpPr>
        <p:spPr>
          <a:xfrm>
            <a:off x="5070763" y="1383856"/>
            <a:ext cx="656705" cy="274503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28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BA5DCF0D-4090-3CE8-2F83-1675D5E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303762"/>
            <a:ext cx="8634609" cy="332399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</a:rPr>
              <a:t>6. </a:t>
            </a:r>
            <a:r>
              <a:rPr lang="ko-KR" altLang="en-US" sz="2400" b="1" dirty="0">
                <a:latin typeface="맑은 고딕" panose="020B0503020000020004" pitchFamily="50" charset="-127"/>
              </a:rPr>
              <a:t>전체 워크 플로우</a:t>
            </a:r>
            <a:endParaRPr lang="en-US" altLang="ko-KR" sz="2400" b="1" dirty="0">
              <a:latin typeface="+mn-ea"/>
              <a:ea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0937FF-E1E1-EEAA-D4DD-DDB668AC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896" y="469961"/>
            <a:ext cx="3060688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3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</TotalTime>
  <Words>2420</Words>
  <Application>Microsoft Macintosh PowerPoint</Application>
  <PresentationFormat>Widescreen</PresentationFormat>
  <Paragraphs>270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Calibri</vt:lpstr>
      <vt:lpstr>Calibri Light</vt:lpstr>
      <vt:lpstr>Cambria Math</vt:lpstr>
      <vt:lpstr>Office 2013 - 2022 Theme</vt:lpstr>
      <vt:lpstr>OLS (Ordinary Least Squares) Basics</vt:lpstr>
      <vt:lpstr>AGENDA</vt:lpstr>
      <vt:lpstr>1. 데이터 별 분석 방법</vt:lpstr>
      <vt:lpstr>1. 데이터 별 분석 방법</vt:lpstr>
      <vt:lpstr>1. 데이터 별 분석 방법</vt:lpstr>
      <vt:lpstr>2. OLS 소개 </vt:lpstr>
      <vt:lpstr>2. OLS 소개 : SST, TSS, SSR, ESS, SSE, RSS </vt:lpstr>
      <vt:lpstr>2. OLS 소개 : SST, TSS, SSR, ESS, SSE, RSS </vt:lpstr>
      <vt:lpstr>2. OLS 소개 : Null Hypothesis, T-test, P value</vt:lpstr>
      <vt:lpstr>2. OLS 소개 : Null Hypothesis, T-test, P value</vt:lpstr>
      <vt:lpstr>2. OLS 소개 : Null Hypothesis, T-test, P value</vt:lpstr>
      <vt:lpstr>2. OLS 소개 : Auto correlation, multicollinearity, ANOVA</vt:lpstr>
      <vt:lpstr>2. OLS 소개 : Auto correlation, multicollinearity, ANOVA</vt:lpstr>
      <vt:lpstr>3. 전반적인 OLS 방법론</vt:lpstr>
      <vt:lpstr>4. 실습</vt:lpstr>
      <vt:lpstr>5. 변수 설명</vt:lpstr>
      <vt:lpstr>5. 변수 설명</vt:lpstr>
      <vt:lpstr>5. 변수 설명</vt:lpstr>
      <vt:lpstr>5. 변수 설명</vt:lpstr>
      <vt:lpstr>6. 전체 워크 플로우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Yongwoo Jeong</dc:creator>
  <cp:lastModifiedBy>Yongwoo Jeong</cp:lastModifiedBy>
  <cp:revision>15</cp:revision>
  <dcterms:created xsi:type="dcterms:W3CDTF">2025-12-15T00:11:41Z</dcterms:created>
  <dcterms:modified xsi:type="dcterms:W3CDTF">2026-04-16T08:40:20Z</dcterms:modified>
</cp:coreProperties>
</file>